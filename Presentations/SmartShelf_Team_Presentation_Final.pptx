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371600"/>
            <a:ext cx="6949440" cy="6400800"/>
          </a:xfrm>
          <a:prstGeom prst="ellipse">
            <a:avLst/>
          </a:prstGeom>
          <a:solidFill>
            <a:srgbClr val="10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-1645920"/>
            <a:ext cx="4389120" cy="43891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5212080"/>
            <a:ext cx="2834640" cy="28346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541264" y="1572768"/>
            <a:ext cx="1097280" cy="1097280"/>
          </a:xfrm>
          <a:prstGeom prst="roundRect">
            <a:avLst>
              <a:gd name="adj" fmla="val 24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"/>
              </a:rPr>
              <a:t>SmartShelf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0">
                <a:solidFill>
                  <a:srgbClr val="0EA5E9"/>
                </a:solidFill>
                <a:latin typeface="Segoe UI"/>
              </a:rPr>
              <a:t>Inventory Intelligence for Perishable Retail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05856" y="4370832"/>
            <a:ext cx="777240" cy="41148"/>
          </a:xfrm>
          <a:prstGeom prst="roundRect">
            <a:avLst>
              <a:gd name="adj" fmla="val 8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CBD5E1"/>
                </a:solidFill>
                <a:latin typeface="Segoe UI"/>
              </a:rPr>
              <a:t>Product &amp; Technical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September 2026  •  Prepared by SmartShelf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Segoe UI"/>
              </a:rPr>
              <a:t>1 / 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TEAM OF FOUR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Meet the SmartShelf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2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534924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54480"/>
            <a:ext cx="5349240" cy="109728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1828800"/>
            <a:ext cx="868680" cy="86868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84708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MEMBER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21408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[Name]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285292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Lead &amp;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3756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Intro, problem, solution, lifecycle, system architecture, data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554480"/>
            <a:ext cx="534924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55080" y="1554480"/>
            <a:ext cx="5349240" cy="109728"/>
          </a:xfrm>
          <a:prstGeom prst="roundRect">
            <a:avLst>
              <a:gd name="adj" fmla="val 6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1828800"/>
            <a:ext cx="868680" cy="8686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184708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MEMBER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2121408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[Name]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85292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Core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33756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FEFO engine, batches, inventory, sales flow, concurrency &amp; oversell prevention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160520"/>
            <a:ext cx="534924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4160520"/>
            <a:ext cx="5349240" cy="109728"/>
          </a:xfrm>
          <a:prstGeom prst="roundRect">
            <a:avLst>
              <a:gd name="adj" fmla="val 6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1560" y="4434840"/>
            <a:ext cx="868680" cy="8686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45312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MEMBER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727448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[Name]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545896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94360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Risk scoring, dynamic pricing, analytics, alerts, waste &amp; 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4160520"/>
            <a:ext cx="534924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55080" y="4160520"/>
            <a:ext cx="5349240" cy="109728"/>
          </a:xfrm>
          <a:prstGeom prst="roundRect">
            <a:avLst>
              <a:gd name="adj" fmla="val 6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29400" y="4434840"/>
            <a:ext cx="868680" cy="8686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4453128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MEMBER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4727448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[Name]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545896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Engineering &amp; 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943600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Security, RBAC, testing, CI, Docker deployment, 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Segoe UI"/>
              </a:rPr>
              <a:t>Each member owns a clear slice of the build and the talking points that go with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BUILT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Languages &amp; Technologies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3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54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810512"/>
            <a:ext cx="1078992" cy="365760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04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HTML5 · CSS3 · JavaScript (ES6) · Chart.js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90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Server-rendered pages with live dashboard charts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6260" y="1554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66260" y="1554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94860" y="1810512"/>
            <a:ext cx="973836" cy="36576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4860" y="2304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Python 3.11/3.12 · Flask 3 · Jinja2 · Flask-Login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4860" y="3090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Modular blueprints exposing a REST JSON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1554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5280" y="1554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83880" y="1810512"/>
            <a:ext cx="1078992" cy="36576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304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SQLAlchemy 2 ORM · SQLite (dev) · MySQL 8 / PostgreSQL (prod)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090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One schema - switch engines with DATABASE_URL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840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3840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40" y="4096512"/>
            <a:ext cx="1078992" cy="36576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590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bcrypt · TOTP 2FA · itsdangerous signed 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76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Password hashing, one-time codes, safe resets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66260" y="3840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66260" y="3840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94860" y="4096512"/>
            <a:ext cx="2235708" cy="36576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Engines &amp;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4860" y="4590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Pure-Python FEFO / risk / pricing · pandas · numpy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4860" y="5376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Transparent, unit-tested decision logic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80" y="3840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955280" y="3840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83880" y="4096512"/>
            <a:ext cx="1078992" cy="365760"/>
          </a:xfrm>
          <a:prstGeom prst="roundRect">
            <a:avLst>
              <a:gd name="adj" fmla="val 40000"/>
            </a:avLst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Ops &amp; 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4590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Gunicorn · Nginx + TLS · Docker · GitHub Actions · pytest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5376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One-command deployment; every push is tested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989320"/>
            <a:ext cx="1060704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6062472"/>
            <a:ext cx="9966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Documentation tooling: ReportLab (PDF) · python-pptx (slides) · Pillow (architecture diagrams).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Contents - 56 Slides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4 / 56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554480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1517904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Segoe UI"/>
              </a:rPr>
              <a:t>Title &amp; Team</a:t>
            </a:r>
          </a:p>
        </p:txBody>
      </p:sp>
      <p:sp>
        <p:nvSpPr>
          <p:cNvPr id="11" name="Oval 10"/>
          <p:cNvSpPr/>
          <p:nvPr/>
        </p:nvSpPr>
        <p:spPr>
          <a:xfrm>
            <a:off x="6263640" y="1554480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3-4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5704" y="1517904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Segoe UI"/>
              </a:rPr>
              <a:t>Languages &amp; Tools, Agenda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1993392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5-8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9304" y="1956816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Segoe UI"/>
              </a:rPr>
              <a:t>About, Problem, Solution, Features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19933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9-10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5704" y="1956816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Segoe UI"/>
              </a:rPr>
              <a:t>Top Advantages, Real-Time Usage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2432304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11-16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9304" y="2395728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Segoe UI"/>
              </a:rPr>
              <a:t>Lifecycle, FEFO concept, FEFO demo, FIFO vs FEFO, concurrency</a:t>
            </a:r>
          </a:p>
        </p:txBody>
      </p:sp>
      <p:sp>
        <p:nvSpPr>
          <p:cNvPr id="19" name="Oval 18"/>
          <p:cNvSpPr/>
          <p:nvPr/>
        </p:nvSpPr>
        <p:spPr>
          <a:xfrm>
            <a:off x="6263640" y="2432304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17-19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5704" y="2395728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Segoe UI"/>
              </a:rPr>
              <a:t>Module map + auth deep-dive (auth, security, authflow)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2871216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20-23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9304" y="2834640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Segoe UI"/>
              </a:rPr>
              <a:t>Roles &amp; access: roles matrix, RBAC, role-based do's &amp; don'ts</a:t>
            </a:r>
          </a:p>
        </p:txBody>
      </p:sp>
      <p:sp>
        <p:nvSpPr>
          <p:cNvPr id="23" name="Oval 22"/>
          <p:cNvSpPr/>
          <p:nvPr/>
        </p:nvSpPr>
        <p:spPr>
          <a:xfrm>
            <a:off x="6263640" y="2871216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24-29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2834640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Segoe UI"/>
              </a:rPr>
              <a:t>Deep-dive: products, suppliers, PO, batches, inventory, sales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3310128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30-33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9304" y="3273552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Segoe UI"/>
              </a:rPr>
              <a:t>Risk engine, risk levels, dynamic pricing, approval flow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310128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34-37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5704" y="3273552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Segoe UI"/>
              </a:rPr>
              <a:t>Analytics, alerts, waste, reports modules</a:t>
            </a:r>
          </a:p>
        </p:txBody>
      </p:sp>
      <p:sp>
        <p:nvSpPr>
          <p:cNvPr id="29" name="Oval 28"/>
          <p:cNvSpPr/>
          <p:nvPr/>
        </p:nvSpPr>
        <p:spPr>
          <a:xfrm>
            <a:off x="777240" y="3749040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38-40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9304" y="3712464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Segoe UI"/>
              </a:rPr>
              <a:t>Architecture, diagrams, request lifecycle</a:t>
            </a:r>
          </a:p>
        </p:txBody>
      </p:sp>
      <p:sp>
        <p:nvSpPr>
          <p:cNvPr id="31" name="Oval 30"/>
          <p:cNvSpPr/>
          <p:nvPr/>
        </p:nvSpPr>
        <p:spPr>
          <a:xfrm>
            <a:off x="6263640" y="3749040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41-44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5704" y="3712464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Segoe UI"/>
              </a:rPr>
              <a:t>Data model, deep dive, tech stack, API map</a:t>
            </a:r>
          </a:p>
        </p:txBody>
      </p:sp>
      <p:sp>
        <p:nvSpPr>
          <p:cNvPr id="33" name="Oval 32"/>
          <p:cNvSpPr/>
          <p:nvPr/>
        </p:nvSpPr>
        <p:spPr>
          <a:xfrm>
            <a:off x="777240" y="4187952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45-46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9304" y="4151376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Segoe UI"/>
              </a:rPr>
              <a:t>Scalability, Docker deployment</a:t>
            </a:r>
          </a:p>
        </p:txBody>
      </p:sp>
      <p:sp>
        <p:nvSpPr>
          <p:cNvPr id="35" name="Oval 34"/>
          <p:cNvSpPr/>
          <p:nvPr/>
        </p:nvSpPr>
        <p:spPr>
          <a:xfrm>
            <a:off x="6263640" y="418795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47-50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75704" y="4151376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Segoe UI"/>
              </a:rPr>
              <a:t>Live demo, demo accounts, quality, test coverage</a:t>
            </a:r>
          </a:p>
        </p:txBody>
      </p:sp>
      <p:sp>
        <p:nvSpPr>
          <p:cNvPr id="37" name="Oval 36"/>
          <p:cNvSpPr/>
          <p:nvPr/>
        </p:nvSpPr>
        <p:spPr>
          <a:xfrm>
            <a:off x="777240" y="4626864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51-54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9304" y="4590288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Segoe UI"/>
              </a:rPr>
              <a:t>CI pipeline, security testing, threat model, decisions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626864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>
                <a:solidFill>
                  <a:srgbClr val="FFFFFF"/>
                </a:solidFill>
                <a:latin typeface="Segoe UI"/>
              </a:rPr>
              <a:t>55-56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75704" y="4590288"/>
            <a:ext cx="4754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Segoe UI"/>
              </a:rPr>
              <a:t>Roadmap, Thank you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12648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Segoe UI"/>
              </a:rPr>
              <a:t>Ordered so any question can be answered with two or three adjacent slides.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About SmartShelf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5 / 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"A single platform that receives, stores, sells and clears perishable stock by expiry date - so the store never loses money to forgotten inventory."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4F46E5"/>
                </a:solidFill>
                <a:latin typeface="Segoe UI"/>
              </a:rPr>
              <a:t>A retail inventory intelligence system built around a First-Expired-First-Out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337560"/>
            <a:ext cx="5212080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WHY WE BUILT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4800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 Manual expiry checks miss most of the risk.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 Discounts were gut-feel, not data.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 Stock-outs and waste lost money silently.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 No one could prove which batch was sold.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337560"/>
            <a:ext cx="5120640" cy="2468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WHAT IT PROMISES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80"/>
            <a:ext cx="4709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 Know exactly what is on the shelf and when it expires.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 Always sell the oldest stock first - automatically.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 Quantify spoilage risk and act before the loss.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 Keep a full, auditable record of every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989320"/>
            <a:ext cx="10607040" cy="47548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6053328"/>
            <a:ext cx="9966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Six roles, one hierarchy: Admin, Manager, Biller, Cashier, Staff, User - all on the same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The Retail Shrink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6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342900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691640"/>
            <a:ext cx="3429000" cy="128016"/>
          </a:xfrm>
          <a:prstGeom prst="roundRect">
            <a:avLst>
              <a:gd name="adj" fmla="val 50000"/>
            </a:avLst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2057400"/>
            <a:ext cx="731520" cy="731520"/>
          </a:xfrm>
          <a:prstGeom prst="ellipse">
            <a:avLst/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Segoe UI"/>
              </a:rPr>
              <a:t>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121408"/>
            <a:ext cx="1874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A7A1B"/>
                </a:solidFill>
                <a:latin typeface="Segoe UI"/>
              </a:rPr>
              <a:t>~30%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54680"/>
            <a:ext cx="2788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of perishable inventory is lost to spoilage &amp; expiry before sale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0288" y="1691640"/>
            <a:ext cx="342900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0288" y="1691640"/>
            <a:ext cx="3429000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10328" y="2057400"/>
            <a:ext cx="731520" cy="73152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Segoe UI"/>
              </a:rPr>
              <a:t>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4728" y="2121408"/>
            <a:ext cx="1874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DC2626"/>
                </a:solidFill>
                <a:latin typeface="Segoe UI"/>
              </a:rPr>
              <a:t>₹ Crores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154680"/>
            <a:ext cx="2788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tied up in dead and expiring stock every year in modern retail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03336" y="1691640"/>
            <a:ext cx="342900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03336" y="1691640"/>
            <a:ext cx="3429000" cy="128016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23376" y="2057400"/>
            <a:ext cx="731520" cy="7315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Segoe UI"/>
              </a:rPr>
              <a:t>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7776" y="2121408"/>
            <a:ext cx="1874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A5E9"/>
                </a:solidFill>
                <a:latin typeface="Segoe UI"/>
              </a:rPr>
              <a:t>Last-Mile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3154680"/>
            <a:ext cx="2788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losses from manually guessing what to discount and when to clear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Segoe UI"/>
              </a:rPr>
              <a:t>Traditional shelf-life management relies on manual checks, gut-feel discounts, and static expiry reports.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53212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4F46E5"/>
                </a:solidFill>
                <a:latin typeface="Segoe UI"/>
              </a:rPr>
              <a:t>SmartShelf turns that into an automated, data-driven system built around First-Expired-First-Out (FEFO).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The SmartShelf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7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3429000" cy="374903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691640"/>
            <a:ext cx="777240" cy="3749039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19202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Segoe UI"/>
              </a:rPr>
              <a:t>Know Everything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2286000"/>
            <a:ext cx="502920" cy="50292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Segoe UI"/>
              </a:rPr>
              <a:t>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606040"/>
            <a:ext cx="2148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Real-time batch-level stock &amp; expiry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Live value, movement and alerts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All locations and suppliers in one 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0288" y="1691640"/>
            <a:ext cx="3429000" cy="374903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0288" y="1691640"/>
            <a:ext cx="777240" cy="3749039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6128" y="19202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Segoe UI"/>
              </a:rPr>
              <a:t>Sell Fresh First</a:t>
            </a:r>
          </a:p>
        </p:txBody>
      </p:sp>
      <p:sp>
        <p:nvSpPr>
          <p:cNvPr id="17" name="Oval 16"/>
          <p:cNvSpPr/>
          <p:nvPr/>
        </p:nvSpPr>
        <p:spPr>
          <a:xfrm>
            <a:off x="4773168" y="2286000"/>
            <a:ext cx="502920" cy="50292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Segoe UI"/>
              </a:rP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2606040"/>
            <a:ext cx="2148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Automatic FEFO picking at every sale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Smart batch allocation by expiry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No manual first-out decisions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03336" y="1691640"/>
            <a:ext cx="3429000" cy="374903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03336" y="1691640"/>
            <a:ext cx="777240" cy="3749039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9176" y="19202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Segoe UI"/>
              </a:rPr>
              <a:t>Act Before Loss</a:t>
            </a:r>
          </a:p>
        </p:txBody>
      </p:sp>
      <p:sp>
        <p:nvSpPr>
          <p:cNvPr id="22" name="Oval 21"/>
          <p:cNvSpPr/>
          <p:nvPr/>
        </p:nvSpPr>
        <p:spPr>
          <a:xfrm>
            <a:off x="8586216" y="2286000"/>
            <a:ext cx="502920" cy="50292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Segoe UI"/>
              </a:rPr>
              <a:t>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2606040"/>
            <a:ext cx="2148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Risk-scored products &amp; batches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Recommended discount % and clear reasons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Expiry alerts 30 days ahead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F46E5"/>
                </a:solidFill>
                <a:latin typeface="Segoe UI"/>
              </a:rPr>
              <a:t>One platform:  receive → store → monitor → sell → analyze — with intelligence at every step.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FEATURE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Core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8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2697480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682496"/>
            <a:ext cx="566928" cy="566928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Segoe UI"/>
              </a:rPr>
              <a:t>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62763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Products &amp; Catalogue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116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SKU, category, unit, price &amp; shelf-life profiles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481328"/>
            <a:ext cx="2697480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4448" y="1682496"/>
            <a:ext cx="566928" cy="566928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Segoe UI"/>
              </a:rPr>
              <a:t>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162763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Suppliers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0116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Supplier master + purchase receipts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1481328"/>
            <a:ext cx="2697480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83096" y="1682496"/>
            <a:ext cx="566928" cy="566928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Segoe UI"/>
              </a:rPr>
              <a:t>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616" y="162763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4616" y="20116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Locations, stock levels, transfers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98864" y="1481328"/>
            <a:ext cx="2697480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81744" y="1682496"/>
            <a:ext cx="566928" cy="566928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Segoe UI"/>
              </a:rPr>
              <a:t>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13264" y="162763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Batches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13264" y="20116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Lot control, receipt, expiry tracking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054096"/>
            <a:ext cx="2697480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3255264"/>
            <a:ext cx="566928" cy="566928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Segoe UI"/>
              </a:rPr>
              <a:t>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2004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Expiry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584448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30-day window + per-severity notifications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01568" y="3054096"/>
            <a:ext cx="2697480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84448" y="3255264"/>
            <a:ext cx="566928" cy="566928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Segoe UI"/>
              </a:rPr>
              <a:t>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32004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FEFO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3584448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First-Expired-First-Out picking engine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3054096"/>
            <a:ext cx="2697480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3096" y="3255264"/>
            <a:ext cx="566928" cy="566928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Segoe UI"/>
              </a:rPr>
              <a:t>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4616" y="32004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Risk Scoring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4616" y="3584448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Per-batch spoilage risk scoring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98864" y="3054096"/>
            <a:ext cx="2697480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381744" y="3255264"/>
            <a:ext cx="566928" cy="566928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Segoe UI"/>
              </a:rPr>
              <a:t>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13264" y="32004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Pricing &amp; Promos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13264" y="3584448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Recommended discounts + approval flow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626864"/>
            <a:ext cx="2697480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5800" y="4828032"/>
            <a:ext cx="566928" cy="566928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Segoe UI"/>
              </a:rPr>
              <a:t>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477316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Sales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157216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Cart checkout with automatic FEFO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01568" y="4626864"/>
            <a:ext cx="2697480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584448" y="4828032"/>
            <a:ext cx="566928" cy="566928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Segoe UI"/>
              </a:rPr>
              <a:t>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5968" y="477316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Waste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5968" y="5157216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Waste recording &amp; value tracking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0216" y="4626864"/>
            <a:ext cx="2697480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83096" y="4828032"/>
            <a:ext cx="566928" cy="566928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14616" y="477316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Analytics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14616" y="5157216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Sales trends, KPIs &amp; velocity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98864" y="4626864"/>
            <a:ext cx="2697480" cy="13898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381744" y="4828032"/>
            <a:ext cx="566928" cy="566928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Segoe UI"/>
              </a:rPr>
              <a:t>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13264" y="477316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Reports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13264" y="5157216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Workbooks + health endpoint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WHY SMARTSHELF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Top Advantages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9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54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828800"/>
            <a:ext cx="347472" cy="34747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1810512"/>
            <a:ext cx="2025395" cy="36576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Zero expiry waste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04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FEFO sells the oldest stock first, automatically.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90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Less write-off, protected margin.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6260" y="1554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66260" y="1554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2292" y="1828800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97780" y="1810512"/>
            <a:ext cx="2340864" cy="36576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No overselling, ever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4860" y="2304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Atomic guarded update - stock never goes negative.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4860" y="3090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Proven by a 20-way parallel test.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1554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80" y="1554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1312" y="1828800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810512"/>
            <a:ext cx="2446020" cy="36576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Every rupee auditable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304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Batch-accurate invoices and an immutable audit log.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090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Reconcile any invoice to physical stock.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840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3840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114800"/>
            <a:ext cx="347472" cy="3474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08760" y="4096512"/>
            <a:ext cx="2025395" cy="36576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Secure by default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590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bcrypt, TOTP 2FA, lockout, rate limits, RBAC.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376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35 automated security scenarios pass.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66260" y="3840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66260" y="3840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22292" y="4114800"/>
            <a:ext cx="347472" cy="34747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97780" y="4096512"/>
            <a:ext cx="1604772" cy="365760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Fast to adopt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4860" y="4590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Zero-setup SQLite dev; one-command Docker deploy.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4860" y="5376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CI runs on every push.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3840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955280" y="3840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11312" y="4114800"/>
            <a:ext cx="347472" cy="347472"/>
          </a:xfrm>
          <a:prstGeom prst="ellipse">
            <a:avLst/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4096512"/>
            <a:ext cx="1920240" cy="365760"/>
          </a:xfrm>
          <a:prstGeom prst="roundRect">
            <a:avLst>
              <a:gd name="adj" fmla="val 40000"/>
            </a:avLst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Insight built 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80" y="4590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Risk scores, pricing advice, forecasts and alerts.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5376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84 API endpoints, all dashboards live.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5989320"/>
            <a:ext cx="10607040" cy="457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6062472"/>
            <a:ext cx="9966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Proof: 20/20 concurrency test · 35 security scenarios · 84 API endpoints · 6 roles.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WHERE SMARTSHELF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Real-Time Usages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10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54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828800"/>
            <a:ext cx="347472" cy="347472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1810512"/>
            <a:ext cx="2235708" cy="36576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Groceries &amp; markets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04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Dairy, bakery and fresh aisles rotate by expiry at the POS.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90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Every sale picks the oldest batch.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6260" y="1554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66260" y="1554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2292" y="1828800"/>
            <a:ext cx="347472" cy="34747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97780" y="1810512"/>
            <a:ext cx="1289304" cy="365760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Pharmacies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4860" y="2304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Expiry-led picking for medicines and consumables.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4860" y="3090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Never dispense stock past its date.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1554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80" y="1554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1312" y="1828800"/>
            <a:ext cx="347472" cy="3474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1810512"/>
            <a:ext cx="2025395" cy="36576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Cold chain &amp; FMCG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304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Batch-traceable transfers between back room and floor.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090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A ledger tracks every unit moved.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840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3840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114800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08760" y="4096512"/>
            <a:ext cx="2130552" cy="36576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E-commerce picking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590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FEFO pick order for every fulfillment row.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376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Orders never draw fresh stock first.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66260" y="3840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66260" y="3840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22292" y="4114800"/>
            <a:ext cx="347472" cy="347472"/>
          </a:xfrm>
          <a:prstGeom prst="ellipse">
            <a:avLst/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97780" y="4096512"/>
            <a:ext cx="2235708" cy="365760"/>
          </a:xfrm>
          <a:prstGeom prst="roundRect">
            <a:avLst>
              <a:gd name="adj" fmla="val 40000"/>
            </a:avLst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Multi-branch chains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4860" y="4590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One instance per store on a shared managed DB.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4860" y="5376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Central KPIs, per-store operations.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3840480"/>
            <a:ext cx="34290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955280" y="384048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11312" y="4114800"/>
            <a:ext cx="347472" cy="34747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4096512"/>
            <a:ext cx="2235708" cy="36576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Back office &amp; 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80" y="4590288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F172A"/>
                </a:solidFill>
                <a:latin typeface="Segoe UI"/>
              </a:rPr>
              <a:t>Managers approve promotions; every action is logged.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5376672"/>
            <a:ext cx="2971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Named reports for every decision.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5989320"/>
            <a:ext cx="1060704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6062472"/>
            <a:ext cx="9966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One engine, six roles - every scenario follows the same FEFO promise.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5-STAGE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The Product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11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21031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2103120" cy="82296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17320" y="2011680"/>
            <a:ext cx="548640" cy="5486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157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RECEIVE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70632" y="2148840"/>
            <a:ext cx="91440" cy="5029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71216" y="1783080"/>
            <a:ext cx="21031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71216" y="1783080"/>
            <a:ext cx="2103120" cy="822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48456" y="201168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6" y="27157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STORE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001768" y="2148840"/>
            <a:ext cx="91440" cy="5029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02352" y="1783080"/>
            <a:ext cx="21031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02352" y="1783080"/>
            <a:ext cx="2103120" cy="82296"/>
          </a:xfrm>
          <a:prstGeom prst="roundRect">
            <a:avLst>
              <a:gd name="adj" fmla="val 50000"/>
            </a:avLst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79592" y="2011680"/>
            <a:ext cx="548640" cy="548640"/>
          </a:xfrm>
          <a:prstGeom prst="ellipse">
            <a:avLst/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27157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MONITOR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32904" y="2148840"/>
            <a:ext cx="91440" cy="5029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33488" y="1783080"/>
            <a:ext cx="21031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33488" y="1783080"/>
            <a:ext cx="2103120" cy="822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10728" y="2011680"/>
            <a:ext cx="548640" cy="5486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27157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SELL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464040" y="2148840"/>
            <a:ext cx="91440" cy="5029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64624" y="1783080"/>
            <a:ext cx="21031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64624" y="1783080"/>
            <a:ext cx="2103120" cy="822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41864" y="20116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64624" y="27157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Segoe UI"/>
              </a:rPr>
              <a:t>ANALYZE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24612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Purchase receipts create stock batches with expiry 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71216" y="324612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Batches assigned to locations; stock + value tracked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2" y="324612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Expiry alerts &amp; risk scoring flag what needs attention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3488" y="324612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Checkout auto-picks the earliest-expiring batch (FEFO)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64624" y="324612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>
                <a:solidFill>
                  <a:srgbClr val="64748B"/>
                </a:solidFill>
                <a:latin typeface="Segoe UI"/>
              </a:rPr>
              <a:t>Sales velocity, waste and margins feed the next cycle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434840"/>
            <a:ext cx="10972800" cy="155448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59028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Why shelf life matters at every step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02920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CBD5E1"/>
                </a:solidFill>
                <a:latin typeface="Segoe UI"/>
              </a:rPr>
              <a:t>Every batch carries its own expiry date — decisions (pick, discount, dispose) are made on data, not guesswork.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CBD5E1"/>
                </a:solidFill>
                <a:latin typeface="Segoe UI"/>
              </a:rPr>
              <a:t>FEFO keeps the freshest stock for customers while the Risk engine clears expiring stock before it turns to loss.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FIRST EXPIRED, FIRST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FEFO - The Core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12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5212080" cy="4023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08760"/>
            <a:ext cx="5212080" cy="109728"/>
          </a:xfrm>
          <a:prstGeom prst="roundRect">
            <a:avLst>
              <a:gd name="adj" fmla="val 6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373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THE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4884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Segoe UI"/>
              </a:rPr>
              <a:t>When stock runs low, always take units from the batch that expires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47548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•  The system sorts batches by expiry date.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•  Expired stock is quarantined to waste, never sold.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•  Sales, transfers and promotions all follow the same rule.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 b="1">
                <a:solidFill>
                  <a:srgbClr val="1E293B"/>
                </a:solidFill>
                <a:latin typeface="Segoe UI"/>
              </a:rPr>
              <a:t>•  Result: nothing rots on the shelf while fresh stock is sold first.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5120640" cy="40233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7373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  <a:latin typeface="Segoe UI"/>
              </a:rPr>
              <a:t>WHY IT MATTERS TO A RETAILER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945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CBD5E1"/>
                </a:solidFill>
                <a:latin typeface="Segoe UI"/>
              </a:rPr>
              <a:t>Sell-through before expiry  -  margin protected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CBD5E1"/>
                </a:solidFill>
                <a:latin typeface="Segoe UI"/>
              </a:rPr>
              <a:t>No manual first-out judgement  -  one rule everywhere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CBD5E1"/>
                </a:solidFill>
                <a:latin typeface="Segoe UI"/>
              </a:rPr>
              <a:t>Traceability  -  every sale knows its batch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00">
                <a:solidFill>
                  <a:srgbClr val="CBD5E1"/>
                </a:solidFill>
                <a:latin typeface="Segoe UI"/>
              </a:rPr>
              <a:t>Less waste  -  fewer write-offs, less value lost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F46E5"/>
                </a:solidFill>
                <a:latin typeface="Segoe UI"/>
              </a:rPr>
              <a:t>FEFO is not FIFO: it is priority by expiry date and sell-by date, not arrival order.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FIRST-EXPIRED, FIRST-OUT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FEFO Picking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13 / 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How it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11680"/>
            <a:ext cx="5120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219456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4884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</a:rPr>
              <a:t>Sort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148840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All available batches ordered by expiry date (earliest first).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971800"/>
            <a:ext cx="5120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3154680"/>
            <a:ext cx="457200" cy="457200"/>
          </a:xfrm>
          <a:prstGeom prst="ellipse">
            <a:avLst/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10896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</a:rPr>
              <a:t>Exclude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08960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Expired batches are routed to waste, never to customers.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931920"/>
            <a:ext cx="5120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11480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06908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</a:rPr>
              <a:t>Allocate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069080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Requested quantity drawn from the oldest batch first.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92040"/>
            <a:ext cx="51206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5074920"/>
            <a:ext cx="457200" cy="45720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02920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Segoe UI"/>
              </a:rPr>
              <a:t>Top 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029200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When one batch runs out, the next-earliest fills the rest.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4630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Why FEFO wins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011680"/>
            <a:ext cx="50292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1E293B"/>
                </a:solidFill>
                <a:latin typeface="Segoe UI"/>
              </a:rPr>
              <a:t>•  Expiring stock sells first — shrink drops, margins hold.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1E293B"/>
                </a:solidFill>
                <a:latin typeface="Segoe UI"/>
              </a:rPr>
              <a:t>•  Fresh stock stays on the shelf for tomorrow's customers.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1E293B"/>
                </a:solidFill>
                <a:latin typeface="Segoe UI"/>
              </a:rPr>
              <a:t>•  Zero guesswork: the engine decides, operators execute.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500">
                <a:solidFill>
                  <a:srgbClr val="1E293B"/>
                </a:solidFill>
                <a:latin typeface="Segoe UI"/>
              </a:rPr>
              <a:t>•  Consistent across sales, transfers and promotions.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4F46E5"/>
                </a:solidFill>
                <a:latin typeface="Segoe UI"/>
              </a:rPr>
              <a:t>•  No per-user judgement, no 'last-in' mistakes, no manual checks.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760720"/>
            <a:ext cx="10607040" cy="59436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83387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Segoe UI"/>
              </a:rPr>
              <a:t>Applied automatically at every sale and location transfer — no manual first-out decisions, ever.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FEFO in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14 / 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A customer buys 6 units of Milk 1L. Three batches are in stock.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1965960"/>
          <a:ext cx="6035040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1737360"/>
                <a:gridCol w="1188720"/>
                <a:gridCol w="1645920"/>
              </a:tblGrid>
              <a:tr h="4343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Batch</a:t>
                      </a:r>
                    </a:p>
                  </a:txBody>
                  <a:tcPr marL="1270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Expiry (days)</a:t>
                      </a:r>
                    </a:p>
                  </a:txBody>
                  <a:tcPr marL="1270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Stock</a:t>
                      </a:r>
                    </a:p>
                  </a:txBody>
                  <a:tcPr marL="1270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Sale of 6</a:t>
                      </a:r>
                    </a:p>
                  </a:txBody>
                  <a:tcPr marL="127000" anchor="ctr">
                    <a:solidFill>
                      <a:srgbClr val="0F172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Segoe UI"/>
                        </a:rPr>
                        <a:t>B-01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Left 1 day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3 ✓ FEFO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Segoe UI"/>
                        </a:rPr>
                        <a:t>B-02</a:t>
                      </a:r>
                    </a:p>
                  </a:txBody>
                  <a:tcPr marL="127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Left 10 days</a:t>
                      </a:r>
                    </a:p>
                  </a:txBody>
                  <a:tcPr marL="127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27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3 ✓</a:t>
                      </a:r>
                    </a:p>
                  </a:txBody>
                  <a:tcPr marL="127000" anchor="ctr">
                    <a:solidFill>
                      <a:srgbClr val="F1F5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F172A"/>
                          </a:solidFill>
                          <a:latin typeface="Segoe UI"/>
                        </a:rPr>
                        <a:t>B-03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Left 30 days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0 ✗ kept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3977639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4748B"/>
                </a:solidFill>
                <a:latin typeface="Segoe UI"/>
              </a:rPr>
              <a:t>B-01 (left 1 day) is picked first. B-02 tops up the remaining 3 units. B-03 stays untouched for tomorrow.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Pick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303520"/>
            <a:ext cx="1463040" cy="566928"/>
          </a:xfrm>
          <a:prstGeom prst="roundRect">
            <a:avLst>
              <a:gd name="adj" fmla="val 3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5303520"/>
            <a:ext cx="1463040" cy="566928"/>
          </a:xfrm>
          <a:prstGeom prst="roundRect">
            <a:avLst>
              <a:gd name="adj" fmla="val 3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B-01  3u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295144" y="5422392"/>
            <a:ext cx="548640" cy="329184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98648" y="5303520"/>
            <a:ext cx="1463040" cy="566928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98648" y="5303520"/>
            <a:ext cx="1463040" cy="566928"/>
          </a:xfrm>
          <a:prstGeom prst="roundRect">
            <a:avLst>
              <a:gd name="adj" fmla="val 3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B-02  3u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416552" y="5422392"/>
            <a:ext cx="548640" cy="329184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0056" y="5303520"/>
            <a:ext cx="1463040" cy="566928"/>
          </a:xfrm>
          <a:prstGeom prst="roundRect">
            <a:avLst>
              <a:gd name="adj" fmla="val 35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0056" y="5303520"/>
            <a:ext cx="1463040" cy="566928"/>
          </a:xfrm>
          <a:prstGeom prst="roundRect">
            <a:avLst>
              <a:gd name="adj" fmla="val 35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B-03  0u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965960"/>
            <a:ext cx="4160520" cy="3977639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24028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BD5E1"/>
                </a:solidFill>
                <a:latin typeface="Segoe UI"/>
              </a:rPr>
              <a:t>Your basket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65176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6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20040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BD5E1"/>
                </a:solidFill>
                <a:latin typeface="Segoe UI"/>
              </a:rPr>
              <a:t>3 × B-01 (1 day)  +  3 × B-02 (10 days)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3977639"/>
            <a:ext cx="347472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420624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BD5E1"/>
                </a:solidFill>
                <a:latin typeface="Segoe UI"/>
              </a:rPr>
              <a:t>Earliest-expiring stock always leaves the shelf first. The freshest batch is preserved for the next sale — automatically.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4F46E5"/>
                </a:solidFill>
                <a:latin typeface="Segoe UI"/>
              </a:rPr>
              <a:t>Same logic powers transfers and promotions — one deterministic rule everywhere.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PICKING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FEFO vs FIFO vs LIFO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15 / 56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554480"/>
          <a:ext cx="1060704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2377440"/>
                <a:gridCol w="3017520"/>
                <a:gridCol w="1920240"/>
              </a:tblGrid>
              <a:tr h="475488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Strategy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Priority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Best use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Shelf-loss risk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Strategy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Priority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Best use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Shelf-loss risk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FEFO - First Expired, First Out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Earliest expiry date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Perishables, dated goods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Lowest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FIFO - First In, First Out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Arrival order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Non-perishables, cosmetics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LIFO - Last In, First Out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Newest arrivals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Accounting fiction, rarely retail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Highest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4297680"/>
            <a:ext cx="1060704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462272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WHY FIFO FAILS FOR FOOD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828032"/>
            <a:ext cx="10058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•  Two batches, same product: the newer one may expire sooner (short-shelf-life production run).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•  FIFO assumes order equals freshness - which is false with dairy, bakery and cold-chain goods.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•  SmartShelf therefore ranks by expiry date: FEFO keeps it correct even when arrival order lies.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72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4F46E5"/>
                </a:solidFill>
                <a:latin typeface="Segoe UI"/>
              </a:rPr>
              <a:t>FEFO = FIFO with an expiry-date tiebreaker, applied everywhere automatically.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ATOMIC STOCK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Concurrency: No Overselling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16 / 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The hard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577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Segoe UI"/>
              </a:rPr>
              <a:t>•  Two cashiers scan the same last unit at the same moment.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>
                <a:solidFill>
                  <a:srgbClr val="1E293B"/>
                </a:solidFill>
                <a:latin typeface="Segoe UI"/>
              </a:rPr>
              <a:t>•  Each reads quantity = 1, each decrements, both sell the same unit.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50" b="1">
                <a:solidFill>
                  <a:srgbClr val="1E293B"/>
                </a:solidFill>
                <a:latin typeface="Segoe UI"/>
              </a:rPr>
              <a:t>•  Result: negative stock, a bad invoice, and an angry customer.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The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5577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 Deduct with a single guarded atomic UPDATE: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 "UPDATE stock_batches SET quantity = quantity - n WHERE id = ? AND quantity &gt;= n".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 If zero rows change, the batch is gone - roll back and tell the cashier.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•  MySQL/PostgreSQL also lock the row (SELECT ... FOR UPDATE) during FEFO allocation.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554480"/>
            <a:ext cx="4572000" cy="448056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7830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EA5E9"/>
                </a:solidFill>
                <a:latin typeface="Segoe UI"/>
              </a:rPr>
              <a:t>PROOF: THE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240280"/>
            <a:ext cx="40233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FFFFFF"/>
                </a:solidFill>
                <a:latin typeface="Segoe UI"/>
              </a:rPr>
              <a:t>20 parallel cashiers sell 1 unit from the same batch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FFFFFF"/>
                </a:solidFill>
                <a:latin typeface="Segoe UI"/>
              </a:rPr>
              <a:t>20 of 20 succeed - no lost updates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FFFFFF"/>
                </a:solidFill>
                <a:latin typeface="Segoe UI"/>
              </a:rPr>
              <a:t>Stock ends at exactly 0 - never negative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FFFFFF"/>
                </a:solidFill>
                <a:latin typeface="Segoe UI"/>
              </a:rPr>
              <a:t>20 OUT movements keep the ledger exact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FFFFFF"/>
                </a:solidFill>
                <a:latin typeface="Segoe UI"/>
              </a:rPr>
              <a:t>Oversized sale refused cleanly with 400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989320"/>
            <a:ext cx="10607040" cy="47548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053328"/>
            <a:ext cx="9966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Stock is never negative. That single invariant holds under parallel load.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12 API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Platform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17 / 56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554480"/>
          <a:ext cx="1060704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8229600"/>
              </a:tblGrid>
              <a:tr h="35169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Module</a:t>
                      </a:r>
                    </a:p>
                  </a:txBody>
                  <a:tcPr marL="1524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Responsibility</a:t>
                      </a:r>
                    </a:p>
                  </a:txBody>
                  <a:tcPr marL="152400" anchor="ctr">
                    <a:solidFill>
                      <a:srgbClr val="0F172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Auth / Users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Login, register, roles, 2FA, password &amp; account security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Products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Catalogue, categories, brands, pricing profiles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Suppliers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Supplier master and purchase receipts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Inventory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Locations, stock levels, transfers, movements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Batches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Lot receipt, expiry tracking, batch lifecycle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Expiry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Expiry alerts and age analysis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FEFO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First-Expired-First-Out picking engine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Spoilage risk scoring for batches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Pricing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Recommended pricing, discounts and promotions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Sales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Checkout, invoices, payments (FEFO applied)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Waste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Waste recording and value tracking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Alerts &amp; Reports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Notifications, dashboards &amp; reporting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M1 -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Module: Auth &amp; Users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18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580644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9728" cy="1508760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59105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01952"/>
            <a:ext cx="5257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Manages accounts, sessions and roles for all six staff levels.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08960"/>
            <a:ext cx="5806440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3697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WORKING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84448"/>
            <a:ext cx="53492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 b="1">
                <a:solidFill>
                  <a:srgbClr val="1E293B"/>
                </a:solidFill>
                <a:latin typeface="Segoe UI"/>
              </a:rPr>
              <a:t>•  Register / login with bcrypt-verified credentials.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Session bound to IP + user-agent; 2FA (TOTP) optional.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Role checked at every endpoint via @at_least(Role.X).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5 failed logins lock the account for 15 minutes.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Every login and admin action is audited.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4526280" cy="4754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1463040"/>
            <a:ext cx="45262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536192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084831"/>
            <a:ext cx="4160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/api/register - create account (public)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/api/login - authenticate + open session (public)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/api/me - current profile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/api/logout - end session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/api/users - list (MANAGER+)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PUT /api/users/&lt;id&gt; - edit role (MANAGER+)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DELETE /api/users/&lt;id&gt; - remove (ADMIN)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PROTECTION BUILT-IN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Security by Default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19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26974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783080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FFFF"/>
                </a:solidFill>
                <a:latin typeface="Segoe UI"/>
              </a:rP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73736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0F172A"/>
                </a:solidFill>
                <a:latin typeface="Segoe UI"/>
              </a:rPr>
              <a:t>bcrypt Password Hashing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37744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Adaptive hashing with per-user salt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508760"/>
            <a:ext cx="26974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0168" y="1783080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FFFF"/>
                </a:solidFill>
                <a:latin typeface="Segoe UI"/>
              </a:rPr>
              <a:t>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73736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0F172A"/>
                </a:solidFill>
                <a:latin typeface="Segoe UI"/>
              </a:rPr>
              <a:t>2FA (TOTP)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37744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Six-digit codes from any authenticator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1508760"/>
            <a:ext cx="26974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28816" y="1783080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FFFF"/>
                </a:solidFill>
                <a:latin typeface="Segoe UI"/>
              </a:rPr>
              <a:t>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173736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0F172A"/>
                </a:solidFill>
                <a:latin typeface="Segoe UI"/>
              </a:rPr>
              <a:t>Account Lockout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496" y="237744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5 failed logins lock for 15 minutes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98864" y="1508760"/>
            <a:ext cx="26974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27464" y="1783080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FFFF"/>
                </a:solidFill>
                <a:latin typeface="Segoe UI"/>
              </a:rPr>
              <a:t>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96144" y="173736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0F172A"/>
                </a:solidFill>
                <a:latin typeface="Segoe UI"/>
              </a:rPr>
              <a:t>IP Rate Limiting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6144" y="237744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10 login attempts per 5-minute window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474720"/>
            <a:ext cx="26974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3749040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FFFF"/>
                </a:solidFill>
                <a:latin typeface="Segoe UI"/>
              </a:rPr>
              <a:t>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70332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0F172A"/>
                </a:solidFill>
                <a:latin typeface="Segoe UI"/>
              </a:rPr>
              <a:t>Password Policy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34340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8+ chars, complexity + common-password check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01568" y="3474720"/>
            <a:ext cx="26974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30168" y="3749040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FFFF"/>
                </a:solidFill>
                <a:latin typeface="Segoe UI"/>
              </a:rPr>
              <a:t>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370332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0F172A"/>
                </a:solidFill>
                <a:latin typeface="Segoe UI"/>
              </a:rPr>
              <a:t>Login Audit Trail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34340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Every success/failure with IP &amp; user-agent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216" y="3474720"/>
            <a:ext cx="26974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28816" y="3749040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FFFF"/>
                </a:solidFill>
                <a:latin typeface="Segoe UI"/>
              </a:rPr>
              <a:t>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97496" y="370332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0F172A"/>
                </a:solidFill>
                <a:latin typeface="Segoe UI"/>
              </a:rPr>
              <a:t>Secure Sessions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97496" y="434340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HttpOnly, SameSite, configurable Secure flag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98864" y="3474720"/>
            <a:ext cx="26974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27464" y="3749040"/>
            <a:ext cx="658368" cy="65836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>
                <a:solidFill>
                  <a:srgbClr val="FFFFFF"/>
                </a:solidFill>
                <a:latin typeface="Segoe UI"/>
              </a:rPr>
              <a:t>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96144" y="3703320"/>
            <a:ext cx="1417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0F172A"/>
                </a:solidFill>
                <a:latin typeface="Segoe UI"/>
              </a:rPr>
              <a:t>Signed Reset Tokens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96144" y="4343400"/>
            <a:ext cx="1417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30-minute, single-use password resets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4864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4F46E5"/>
                </a:solidFill>
                <a:latin typeface="Segoe UI"/>
              </a:rPr>
              <a:t>Hardening verified by an automated security test suite (33 scenarios: lockout, 2FA, resets, rate limiting).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FROM LOGIN TO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Authentication &amp; 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20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645920"/>
            <a:ext cx="2331720" cy="8229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745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0F172A"/>
                </a:solidFill>
                <a:latin typeface="Segoe UI"/>
              </a:rPr>
              <a:t>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04288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Credentials checked against bcrypt hash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63824" y="2148840"/>
            <a:ext cx="566928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94760" y="164592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94760" y="1645920"/>
            <a:ext cx="2331720" cy="82296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18745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0F172A"/>
                </a:solidFill>
                <a:latin typeface="Segoe UI"/>
              </a:rPr>
              <a:t>2FA (optional)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304288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TOTP code when enabled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181344" y="2148840"/>
            <a:ext cx="566928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12280" y="164592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12280" y="1645920"/>
            <a:ext cx="2331720" cy="8229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18745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0F172A"/>
                </a:solidFill>
                <a:latin typeface="Segoe UI"/>
              </a:rPr>
              <a:t>Secure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304288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HttpOnly + SameSite + 1h lifetime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198864" y="2148840"/>
            <a:ext cx="566928" cy="36576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29800" y="164592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29800" y="1645920"/>
            <a:ext cx="2331720" cy="8229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8745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0F172A"/>
                </a:solidFill>
                <a:latin typeface="Segoe UI"/>
              </a:rPr>
              <a:t>Logout /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304288"/>
            <a:ext cx="1965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Every event logged with IP + user-agent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4290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Segoe UI"/>
              </a:rPr>
              <a:t>Lockout &amp; rate limiting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931920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50">
                <a:solidFill>
                  <a:srgbClr val="1E293B"/>
                </a:solidFill>
                <a:latin typeface="Segoe UI"/>
              </a:rPr>
              <a:t>•  5 failed passwords → account locked for 15 minutes.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50">
                <a:solidFill>
                  <a:srgbClr val="1E293B"/>
                </a:solidFill>
                <a:latin typeface="Segoe UI"/>
              </a:rPr>
              <a:t>•  10 attempts per IP in 5 minutes → temporarily blocked.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50">
                <a:solidFill>
                  <a:srgbClr val="1E293B"/>
                </a:solidFill>
                <a:latin typeface="Segoe UI"/>
              </a:rPr>
              <a:t>•  Failed attempts cleared on successful login.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4290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Segoe UI"/>
              </a:rPr>
              <a:t>Password &amp; reset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931920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50">
                <a:solidFill>
                  <a:srgbClr val="1E293B"/>
                </a:solidFill>
                <a:latin typeface="Segoe UI"/>
              </a:rPr>
              <a:t>•  Policy: 8+ characters, complexity + common-password block.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50">
                <a:solidFill>
                  <a:srgbClr val="1E293B"/>
                </a:solidFill>
                <a:latin typeface="Segoe UI"/>
              </a:rPr>
              <a:t>•  Signed reset tokens — expire in 30 minutes, single use.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50">
                <a:solidFill>
                  <a:srgbClr val="1E293B"/>
                </a:solidFill>
                <a:latin typeface="Segoe UI"/>
              </a:rPr>
              <a:t>•  First login after reset / admin setup forces a new password.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669280"/>
            <a:ext cx="10607040" cy="56692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4243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Login history reviewable from the Settings page — full audit trail for every account.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RBAC PERMISSIONS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Roles &amp;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21 / 56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554480"/>
          <a:ext cx="1060704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508000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Manager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Biller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Cashier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Staff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User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View dashboards &amp; analytics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Process sales &amp; checkout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Record wastage &amp; customers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View inventory, expiry &amp; risk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Edit products, suppliers &amp; batches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Create &amp; submit promotions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Manage users &amp; approve promotions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System configuration &amp; full admin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A34A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Segoe UI"/>
              </a:rPr>
              <a:t>Roles are hierarchical — ADMIN &gt; MANAGER &gt; BILLER &gt; CASHIER &gt; STAFF &gt; USER with endpoint-level enforcement.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SIX ROLES, ONE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Role-Based Access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22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10607040" cy="56692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490472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Least privilege by default: every new account is read-only until an admin verifies it and assigns a role.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94560"/>
            <a:ext cx="5577840" cy="3794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194560"/>
            <a:ext cx="5577840" cy="109728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39572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Segoe UI"/>
              </a:rPr>
              <a:t>THE ROLE LADDER  (LEAST → MOST)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2761488"/>
            <a:ext cx="1234440" cy="365760"/>
          </a:xfrm>
          <a:prstGeom prst="roundRect">
            <a:avLst>
              <a:gd name="adj" fmla="val 4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2766060"/>
            <a:ext cx="3749039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Read-only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299466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Segoe UI"/>
              </a:rPr>
              <a:t>Dashboard &amp; stock status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3287268"/>
            <a:ext cx="1234440" cy="365760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STAFF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3291840"/>
            <a:ext cx="3749039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52044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Segoe UI"/>
              </a:rPr>
              <a:t>+ wastage records and customers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3813048"/>
            <a:ext cx="1234440" cy="36576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CASHIER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3817620"/>
            <a:ext cx="3749039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Checkout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404622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Segoe UI"/>
              </a:rPr>
              <a:t>+ sales and invoices (FEFO pick)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4338828"/>
            <a:ext cx="1234440" cy="365760"/>
          </a:xfrm>
          <a:prstGeom prst="roundRect">
            <a:avLst>
              <a:gd name="adj" fmla="val 40000"/>
            </a:avLst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BILLER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4343400"/>
            <a:ext cx="3749039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Billing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457200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Segoe UI"/>
              </a:rPr>
              <a:t>+ invoice history and payments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4864608"/>
            <a:ext cx="1234440" cy="36576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MANAGER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5728" y="4869180"/>
            <a:ext cx="3749039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5728" y="50977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Segoe UI"/>
              </a:rPr>
              <a:t>+ products, suppliers, stock, promotions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5390388"/>
            <a:ext cx="1234440" cy="36576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5394960"/>
            <a:ext cx="3749039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Segoe UI"/>
              </a:rPr>
              <a:t>Owner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95728" y="562356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Segoe UI"/>
              </a:rPr>
              <a:t>+ users, role assignment, system config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2194560"/>
            <a:ext cx="4800600" cy="3794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0" y="2194560"/>
            <a:ext cx="4800600" cy="109728"/>
          </a:xfrm>
          <a:prstGeom prst="roundRect">
            <a:avLst>
              <a:gd name="adj" fmla="val 6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39572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4F46E5"/>
                </a:solidFill>
                <a:latin typeface="Segoe UI"/>
              </a:rPr>
              <a:t>WHAT A ROLE DECIDES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880360"/>
            <a:ext cx="43891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>
                <a:solidFill>
                  <a:srgbClr val="1E293B"/>
                </a:solidFill>
                <a:latin typeface="Segoe UI"/>
              </a:rPr>
              <a:t>Which screens an account can open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>
                <a:solidFill>
                  <a:srgbClr val="1E293B"/>
                </a:solidFill>
                <a:latin typeface="Segoe UI"/>
              </a:rPr>
              <a:t>Which API calls are allowed (@at_least guards)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>
                <a:solidFill>
                  <a:srgbClr val="1E293B"/>
                </a:solidFill>
                <a:latin typeface="Segoe UI"/>
              </a:rPr>
              <a:t>What the user may create, edit or approve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>
                <a:solidFill>
                  <a:srgbClr val="1E293B"/>
                </a:solidFill>
                <a:latin typeface="Segoe UI"/>
              </a:rPr>
              <a:t>Which discounts and promotions need approval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>
                <a:solidFill>
                  <a:srgbClr val="1E293B"/>
                </a:solidFill>
                <a:latin typeface="Segoe UI"/>
              </a:rPr>
              <a:t>Every action is audited against the account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1E293B"/>
                </a:solidFill>
                <a:latin typeface="Segoe UI"/>
              </a:rPr>
              <a:t>Role changes are logged and reversible.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6144768"/>
            <a:ext cx="1060704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6208776"/>
            <a:ext cx="9966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A cashier never sees admin tools, and an admin never needs the POS - access is exactly the assigned role.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ACCESS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Role-Based Do's &amp; Don'ts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23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521208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5212080" cy="128016"/>
          </a:xfrm>
          <a:prstGeom prst="roundRect">
            <a:avLst>
              <a:gd name="adj" fmla="val 6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1792224"/>
            <a:ext cx="1234440" cy="402336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23160"/>
            <a:ext cx="46634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1E293B"/>
                </a:solidFill>
                <a:latin typeface="Segoe UI"/>
              </a:rPr>
              <a:t>Verify every new account before its first login - the approval gate.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>
                <a:solidFill>
                  <a:srgbClr val="1E293B"/>
                </a:solidFill>
                <a:latin typeface="Segoe UI"/>
              </a:rPr>
              <a:t>Assign the least privilege a job actually needs.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>
                <a:solidFill>
                  <a:srgbClr val="1E293B"/>
                </a:solidFill>
                <a:latin typeface="Segoe UI"/>
              </a:rPr>
              <a:t>Climb the ladder only when the role demands it: USER → STAFF → CASHIER → BILLER → MANAGER → ADMIN.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>
                <a:solidFill>
                  <a:srgbClr val="1E293B"/>
                </a:solidFill>
                <a:latin typeface="Segoe UI"/>
              </a:rPr>
              <a:t>Let managers raise promotions; keep the final approval with an admin.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>
                <a:solidFill>
                  <a:srgbClr val="1E293B"/>
                </a:solidFill>
                <a:latin typeface="Segoe UI"/>
              </a:rPr>
              <a:t>Re-verify or revoke access when staff leave or change desk.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1E293B"/>
                </a:solidFill>
                <a:latin typeface="Segoe UI"/>
              </a:rPr>
              <a:t>Review the audit log regularly for "who did what".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63040"/>
            <a:ext cx="521208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463040"/>
            <a:ext cx="5212080" cy="128016"/>
          </a:xfrm>
          <a:prstGeom prst="roundRect">
            <a:avLst>
              <a:gd name="adj" fmla="val 6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37960" y="1792224"/>
            <a:ext cx="1234440" cy="402336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DON'T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423160"/>
            <a:ext cx="46634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1E293B"/>
                </a:solidFill>
                <a:latin typeface="Segoe UI"/>
              </a:rPr>
              <a:t>Don't grant MANAGER or ADMIN to every new user "to save time".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>
                <a:solidFill>
                  <a:srgbClr val="1E293B"/>
                </a:solidFill>
                <a:latin typeface="Segoe UI"/>
              </a:rPr>
              <a:t>Don't share one login between cashiers or managers - it breaks the audit trail.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>
                <a:solidFill>
                  <a:srgbClr val="1E293B"/>
                </a:solidFill>
                <a:latin typeface="Segoe UI"/>
              </a:rPr>
              <a:t>Don't let a cashier apply a discount only a manager may own.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>
                <a:solidFill>
                  <a:srgbClr val="1E293B"/>
                </a:solidFill>
                <a:latin typeface="Segoe UI"/>
              </a:rPr>
              <a:t>Don't let staff deactivate or delete accounts.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>
                <a:solidFill>
                  <a:srgbClr val="1E293B"/>
                </a:solidFill>
                <a:latin typeface="Segoe UI"/>
              </a:rPr>
              <a:t>Don't let 2FA lapse on admin and manager accounts.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1E293B"/>
                </a:solidFill>
                <a:latin typeface="Segoe UI"/>
              </a:rPr>
              <a:t>Don't leave dormant accounts with live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6199632"/>
            <a:ext cx="10607040" cy="457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6263640"/>
            <a:ext cx="9966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Access follows the assigned role - verified, least-privilege, and always audited.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M2 -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Module: Master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24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580644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9728" cy="1508760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59105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01952"/>
            <a:ext cx="5257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Catalogue: categories, brands and products with SKU, price and reorder thresholds.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08960"/>
            <a:ext cx="5806440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3697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WORKING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84448"/>
            <a:ext cx="53492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Create categories and brands first to organise the catalogue.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Products carry SKU, name, unit price, reorder level.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Stock is always derived from live batches - never a static number.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is_active gates products from lists and the POS.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4526280" cy="4754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1463040"/>
            <a:ext cx="45262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536192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084831"/>
            <a:ext cx="4160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/api/products - catalogue with live stock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/api/products - create (MANAGER+)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PUT /api/products/&lt;id&gt; - edit (MANAGER+)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DELETE /api/products/&lt;id&gt; - remove (MANAGER+)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/api/products/low-stock - reorder watch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/api/categories + /api/brands - (MANAGER+)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M3 - SOURCING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Module: Suppliers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25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580644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9728" cy="1508760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59105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01952"/>
            <a:ext cx="5257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The trading partners goods come from; referenced by batches and purchase orders.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08960"/>
            <a:ext cx="5806440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3697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WORKING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84448"/>
            <a:ext cx="53492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Manager registers name, contact, phone/email, address.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Every received batch remembers its supplier_id.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Viewing a supplier's batches drives reorder decisions.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4526280" cy="4754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1463040"/>
            <a:ext cx="45262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536192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084831"/>
            <a:ext cx="4160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/api/suppliers - list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/api/suppliers - create (MANAGER+)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PUT /api/suppliers/&lt;id&gt; - edit (MANAGER+)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DELETE /api/suppliers/&lt;id&gt; - remove (MANAGER+)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/api/suppliers/&lt;id&gt;/batches - purchase history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M4 - STOCK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Module: Purchase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26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580644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9728" cy="1508760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59105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01952"/>
            <a:ext cx="5257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Raises orders against suppliers and turns received goods into dated batches.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08960"/>
            <a:ext cx="5806440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3697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WORKING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84448"/>
            <a:ext cx="53492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PO lines carry product, qty, unit cost, batch code, expiry.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Receiving calls add_stock: create/top-up batch + IN movement.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Partial receipts tracked via received_quantity.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PO status ORDERED -&gt; RECEIVED; batch appears in every 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4526280" cy="4754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1463040"/>
            <a:ext cx="45262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536192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084831"/>
            <a:ext cx="4160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/api/purchases - create PO (MANAGER+)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/api/purchases/&lt;po_id&gt;/receive - receive (MANAGER+)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/api/inventory/receive - direct receive (MANAGER+)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/api/purchases - PO list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M5 - FRESHNESS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Module: Batches &amp; Expiry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27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580644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9728" cy="1508760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59105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01952"/>
            <a:ext cx="5257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The unit of truth: every good is a dated batch with quantity, cost and expiry.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08960"/>
            <a:ext cx="5806440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3697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WORKING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84448"/>
            <a:ext cx="53492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Batch key = product + batch_code, with cost_price and expiry_date.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Expiry scan classifies OK / EXPIRING_SOON / EXPIRED.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FEFO order generates the exact pick sequence for sales.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Zeroed batches leave sellable stock but keep ledger history.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4526280" cy="4754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1463040"/>
            <a:ext cx="45262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536192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084831"/>
            <a:ext cx="4160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/api/batches - all batches with status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/api/fefo - per-product FEFO pick order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/api/products/&lt;pid&gt;/batches - product batches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/api/expiry/alerts - non-OK batches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M6 -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Module: Inventory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28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580644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9728" cy="1508760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59105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01952"/>
            <a:ext cx="5257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Locations, transfers, adjustments and the immutable movement ledger.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08960"/>
            <a:ext cx="5806440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3697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WORKING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84448"/>
            <a:ext cx="53492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Locations model the shop floor (aisle / shelf / back room).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Transfers move units and write a TRANSFER movement.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Adjustments correct physical counts atomically.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Movement history = single source of truth for every unit.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4526280" cy="4754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1463040"/>
            <a:ext cx="45262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536192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084831"/>
            <a:ext cx="4160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/api/inventory - live stock view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/api/inventory/adjust - fix count (MANAGER+)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/api/inventory/movements - full ledger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/api/locations - create (MANAGER+)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/api/locations/transfer - move stock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M7 -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Module: Sales &amp; Payment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29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580644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9728" cy="1508760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59105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01952"/>
            <a:ext cx="5257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Checkout that converts stock to revenue while keeping the FEFO promise.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08960"/>
            <a:ext cx="5806440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3697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WORKING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84448"/>
            <a:ext cx="53492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Cashier POSTs items; each line FEFO-deducts exact batches.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SaleItem links every unit to its physical batch.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Totals: subtotal - discount + tax; payment row recorded.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Any unsatisfiable line rolls the whole sale back (no negatives).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Invoice number INV-XXXX generated and audited.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4526280" cy="4754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1463040"/>
            <a:ext cx="45262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536192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084831"/>
            <a:ext cx="4160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/api/sales - record sale (STAFF+)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/api/sales - recent invoices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/api/sales/&lt;id&gt; - per-batch item detail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/api/customers - create (STAFF+)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PREDICT BEFORE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Spoilage Risk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30 / 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Risk inputs per 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>
                <a:solidFill>
                  <a:srgbClr val="1E293B"/>
                </a:solidFill>
                <a:latin typeface="Segoe UI"/>
              </a:rPr>
              <a:t>•  Days to expiry  —  weighted heaviest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>
                <a:solidFill>
                  <a:srgbClr val="1E293B"/>
                </a:solidFill>
                <a:latin typeface="Segoe UI"/>
              </a:rPr>
              <a:t>•  Perishability of the product type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>
                <a:solidFill>
                  <a:srgbClr val="1E293B"/>
                </a:solidFill>
                <a:latin typeface="Segoe UI"/>
              </a:rPr>
              <a:t>•  Storage condition  —  chilled / ambient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>
                <a:solidFill>
                  <a:srgbClr val="1E293B"/>
                </a:solidFill>
                <a:latin typeface="Segoe UI"/>
              </a:rPr>
              <a:t>•  Sales velocity over the last 30 days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>
                <a:solidFill>
                  <a:srgbClr val="1E293B"/>
                </a:solidFill>
                <a:latin typeface="Segoe UI"/>
              </a:rPr>
              <a:t>•  Stock on hand vs. expected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463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The 0–100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01168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1024127" cy="4572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59167" y="201168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7" y="201168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19487" y="2011680"/>
            <a:ext cx="1536192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CRIT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60604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Segoe UI"/>
              </a:rPr>
              <a:t>Score = weighted blend; the engine explains the 'why' behind every number.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3832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1E293B"/>
                </a:solidFill>
                <a:latin typeface="Segoe UI"/>
              </a:rPr>
              <a:t>•  Every batch is scored automatically on receipt and on each stock event.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1E293B"/>
                </a:solidFill>
                <a:latin typeface="Segoe UI"/>
              </a:rPr>
              <a:t>•  Score re-computed as expiry approaches and sales velocity changes.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E293B"/>
                </a:solidFill>
                <a:latin typeface="Segoe UI"/>
              </a:rPr>
              <a:t>•  The score feeds the Pricing module with a suggested discount 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532120"/>
            <a:ext cx="10972800" cy="6858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623560"/>
            <a:ext cx="10241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Each batch gets a 0–100 risk score. High and critical batches are flagged to operators in real time.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WHAT EACH LEVEL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Risk Levels &amp; 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31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1060704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600200"/>
            <a:ext cx="128016" cy="102412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1874520"/>
            <a:ext cx="1554480" cy="47548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709928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0–20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09928"/>
            <a:ext cx="4206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Segoe UI"/>
              </a:rPr>
              <a:t>Plenty of shelf life.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87452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No action needed.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788920"/>
            <a:ext cx="1060704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788920"/>
            <a:ext cx="128016" cy="1024128"/>
          </a:xfrm>
          <a:prstGeom prst="roundRect">
            <a:avLst>
              <a:gd name="adj" fmla="val 50000"/>
            </a:avLst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43000" y="3063240"/>
            <a:ext cx="1554480" cy="475488"/>
          </a:xfrm>
          <a:prstGeom prst="roundRect">
            <a:avLst>
              <a:gd name="adj" fmla="val 50000"/>
            </a:avLst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898648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21–45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98648"/>
            <a:ext cx="4206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Segoe UI"/>
              </a:rPr>
              <a:t>Moving slower than expected.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306324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Plan a promotion soon.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77640"/>
            <a:ext cx="1060704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3977640"/>
            <a:ext cx="128016" cy="102412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43000" y="4251960"/>
            <a:ext cx="1554480" cy="47548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087368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46–70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087368"/>
            <a:ext cx="4206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Segoe UI"/>
              </a:rPr>
              <a:t>Expiring within days.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425196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Discount strongly now.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166360"/>
            <a:ext cx="1060704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5166360"/>
            <a:ext cx="128016" cy="102412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43000" y="5440680"/>
            <a:ext cx="1554480" cy="47548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CRITICAL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76088"/>
            <a:ext cx="1463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71–100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276088"/>
            <a:ext cx="4206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Segoe UI"/>
              </a:rPr>
              <a:t>Imminent expiry loss.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400" y="544068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Clear or dispose immediately.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4F46E5"/>
                </a:solidFill>
                <a:latin typeface="Segoe UI"/>
              </a:rPr>
              <a:t>Operators see a colour-coded risk column everywhere stock appears — dashboards, batches, checkout.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CLEAR BEFORE IT EXPIRES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Dynamic Pricing &amp; Promotions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32 / 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How a discount is recommended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>
                <a:solidFill>
                  <a:srgbClr val="1E293B"/>
                </a:solidFill>
                <a:latin typeface="Segoe UI"/>
              </a:rPr>
              <a:t>•  Risk score → suggested discount % (risk-based table).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>
                <a:solidFill>
                  <a:srgbClr val="1E293B"/>
                </a:solidFill>
                <a:latin typeface="Segoe UI"/>
              </a:rPr>
              <a:t>•  Recommended price states the clear reason, e.g. “expires in 5 days”.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>
                <a:solidFill>
                  <a:srgbClr val="1E293B"/>
                </a:solidFill>
                <a:latin typeface="Segoe UI"/>
              </a:rPr>
              <a:t>•  Manager drafts the promotion with the suggested value.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500">
                <a:solidFill>
                  <a:srgbClr val="1E293B"/>
                </a:solidFill>
                <a:latin typeface="Segoe UI"/>
              </a:rPr>
              <a:t>•  Admin approves → promotion becomes Active → applied at checkout.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Risk maps to discount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9360" y="1965960"/>
          <a:ext cx="502920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3017520"/>
              </a:tblGrid>
              <a:tr h="42062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 marL="1270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Suggested discount</a:t>
                      </a:r>
                    </a:p>
                  </a:txBody>
                  <a:tcPr marL="127000" anchor="ctr">
                    <a:solidFill>
                      <a:srgbClr val="0F172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0% – 10%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marL="127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10% – 20%</a:t>
                      </a:r>
                    </a:p>
                  </a:txBody>
                  <a:tcPr marL="127000" anchor="ctr"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20% – 40%</a:t>
                      </a:r>
                    </a:p>
                  </a:txBody>
                  <a:tcPr marL="1270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 marL="127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40% – 60%</a:t>
                      </a:r>
                    </a:p>
                  </a:txBody>
                  <a:tcPr marL="1270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09360" y="429768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4748B"/>
                </a:solidFill>
                <a:latin typeface="Segoe UI"/>
              </a:rPr>
              <a:t>Discounts are suggestions, not surprises: the operator always sees the product, batch, expiry window and reason before acting.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54880"/>
            <a:ext cx="10607040" cy="123444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9834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94A3B8"/>
                </a:solidFill>
                <a:latin typeface="Segoe UI"/>
              </a:rPr>
              <a:t>₹60.00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98348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Segoe UI"/>
              </a:rPr>
              <a:t>–45%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49834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A34A"/>
                </a:solidFill>
                <a:latin typeface="Segoe UI"/>
              </a:rPr>
              <a:t>₹33.00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86400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Milk 1L  •  batch ML101  •  expires in 5 days  •  risk 80 CRITICAL  →  recommend 45%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DRAFT → 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Promotion Approval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33 / 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Lifecycle of a promotion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11680"/>
            <a:ext cx="51206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2176272"/>
            <a:ext cx="1920240" cy="45720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121408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Manager creates from the suggested discount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788920"/>
            <a:ext cx="5120640" cy="4114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777240" y="2743200"/>
            <a:ext cx="256032" cy="256032"/>
          </a:xfrm>
          <a:prstGeom prst="down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017520"/>
            <a:ext cx="51206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3182112"/>
            <a:ext cx="1920240" cy="457200"/>
          </a:xfrm>
          <a:prstGeom prst="roundRect">
            <a:avLst>
              <a:gd name="adj" fmla="val 40000"/>
            </a:avLst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Pending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27248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Submitted for review, not yet live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94760"/>
            <a:ext cx="5120640" cy="4114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777240" y="3749040"/>
            <a:ext cx="256032" cy="256032"/>
          </a:xfrm>
          <a:prstGeom prst="down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023360"/>
            <a:ext cx="51206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4187952"/>
            <a:ext cx="1920240" cy="45720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133088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Applied automatically at checkout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800600"/>
            <a:ext cx="5120640" cy="41148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777240" y="4754880"/>
            <a:ext cx="256032" cy="256032"/>
          </a:xfrm>
          <a:prstGeom prst="down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5029200"/>
            <a:ext cx="51206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40" y="5193792"/>
            <a:ext cx="1920240" cy="45720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Rejected / Expired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138928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Never applied — reason recorded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46304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Who can do what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011680"/>
            <a:ext cx="50292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29400" y="2148840"/>
            <a:ext cx="1371600" cy="41148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121408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Segoe UI"/>
              </a:rPr>
              <a:t>Draft &amp; submit promotions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926080"/>
            <a:ext cx="50292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29400" y="3063240"/>
            <a:ext cx="1371600" cy="411480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035808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Segoe UI"/>
              </a:rPr>
              <a:t>Approve / reject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840480"/>
            <a:ext cx="50292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29400" y="3977640"/>
            <a:ext cx="1371600" cy="411480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950208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Segoe UI"/>
              </a:rPr>
              <a:t>Edit price, expiry &amp; settings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754880"/>
            <a:ext cx="50292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629400" y="4892040"/>
            <a:ext cx="1371600" cy="41148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Cashier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864608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Segoe UI"/>
              </a:rPr>
              <a:t>Sell at active promo price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5806440"/>
            <a:ext cx="1060704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87959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State machine is enforced at the API level — only valid transitions are allowed.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M8 -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Module: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34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580644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9728" cy="1508760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59105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01952"/>
            <a:ext cx="5257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Turns transaction data into decisions: KPIs, velocity, demand, forecast.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08960"/>
            <a:ext cx="5806440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3697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WORKING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84448"/>
            <a:ext cx="53492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Dashboard aggregates KPIs + trends + top risk + low stock.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Velocity classifies every product by sell rate (30 days).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Demand analysis returns per-product units/day.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Forecast projects the next N days from ~60 days of history.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4526280" cy="4754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1463040"/>
            <a:ext cx="45262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536192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084831"/>
            <a:ext cx="4160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/api/dashboard - KPI suite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/api/ai/velocity - fast / slow movers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/api/ai/demand-analysis - unit demand records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/api/ai/forecast/&lt;product_id&gt; - projection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M9 - PROACTIVITY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Module: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35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580644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9728" cy="1508760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59105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01952"/>
            <a:ext cx="5257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Scans, generators and per-user notifications with an unread badge.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08960"/>
            <a:ext cx="5806440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3697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WORKING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84448"/>
            <a:ext cx="53492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Expiry scan tags batches within a 30-day window.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Generators: low stock, expiry, high risk.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Notifications feed a navbar unread badge.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MANAGER+ can trigger scans; everyone reads their own alerts.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4526280" cy="4754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1463040"/>
            <a:ext cx="45262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536192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084831"/>
            <a:ext cx="4160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/api/alerts/scan - expiry scan (MANAGER+)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/api/alerts/generate - all generators (MANAGER+)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/api/notifications - my notifications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/api/notifications/unread-count - badge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/api/notifications/read-all - clear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M10 -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Module: Waste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36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580644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9728" cy="1508760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59105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01952"/>
            <a:ext cx="5257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Formalises loss so the business learns the true cost and savings.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08960"/>
            <a:ext cx="5806440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3697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WORKING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84448"/>
            <a:ext cx="53492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STAFF+ records reason, qty, optional batch and location.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record_wastage deducts the exact batch.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Summary aggregates losses and recovery by reason.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4526280" cy="4754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1463040"/>
            <a:ext cx="45262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536192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084831"/>
            <a:ext cx="4160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POST /api/wastage - record (STAFF+)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/api/wastage - recent records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/api/wastage/summary - aggregated losses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M11 -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Module: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37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63040"/>
            <a:ext cx="580644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9728" cy="1508760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59105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901952"/>
            <a:ext cx="5257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Named, exportable reports plus a liveness endpoint for monitoring.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08960"/>
            <a:ext cx="5806440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3697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WORKING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84448"/>
            <a:ext cx="53492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Sales / inventory / expiry / discounts / waste / performance / audit.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Performance reports are MANAGER+ only.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/api/health powers Docker healthchecks and uptime monitors.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463040"/>
            <a:ext cx="4526280" cy="4754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1463040"/>
            <a:ext cx="452628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536192"/>
            <a:ext cx="4023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084831"/>
            <a:ext cx="4160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/api/health - service + DB status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/api/reports/sales - revenue aggregation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/api/reports/performance - (MANAGER+)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1E293B"/>
                </a:solidFill>
                <a:latin typeface="Segoe UI"/>
              </a:rPr>
              <a:t>GET /api/reports/audit - action history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HOW IT'S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38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758952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08760"/>
            <a:ext cx="128016" cy="102412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1764792"/>
            <a:ext cx="512064" cy="51206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Segoe UI"/>
              </a:rPr>
              <a:t>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36776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011680"/>
            <a:ext cx="6309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</a:rPr>
              <a:t>HTML5  •  CSS  •  JavaScript  •  Chart.js</a:t>
            </a:r>
          </a:p>
        </p:txBody>
      </p:sp>
      <p:sp>
        <p:nvSpPr>
          <p:cNvPr id="14" name="Striped Right Arrow 13"/>
          <p:cNvSpPr/>
          <p:nvPr/>
        </p:nvSpPr>
        <p:spPr>
          <a:xfrm>
            <a:off x="8503920" y="1819656"/>
            <a:ext cx="2743200" cy="411480"/>
          </a:xfrm>
          <a:prstGeom prst="striped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758952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697480"/>
            <a:ext cx="128016" cy="10241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2953512"/>
            <a:ext cx="512064" cy="51206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Segoe UI"/>
              </a:rPr>
              <a:t>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825496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REST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200400"/>
            <a:ext cx="6309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</a:rPr>
              <a:t>12 Flask blueprints  •  auth, products, inventory, sales, pricing, analytics...</a:t>
            </a:r>
          </a:p>
        </p:txBody>
      </p:sp>
      <p:sp>
        <p:nvSpPr>
          <p:cNvPr id="20" name="Striped Right Arrow 19"/>
          <p:cNvSpPr/>
          <p:nvPr/>
        </p:nvSpPr>
        <p:spPr>
          <a:xfrm>
            <a:off x="8503920" y="3008376"/>
            <a:ext cx="2743200" cy="411480"/>
          </a:xfrm>
          <a:prstGeom prst="striped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3886200"/>
            <a:ext cx="758952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3886200"/>
            <a:ext cx="128016" cy="10241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7280" y="4142232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Segoe UI"/>
              </a:rPr>
              <a:t>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014216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Business Engines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389120"/>
            <a:ext cx="6309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</a:rPr>
              <a:t>FEFO Engine  •  Risk Scoring  •  Pricing  •  Sales Analysis  •  Reports</a:t>
            </a:r>
          </a:p>
        </p:txBody>
      </p:sp>
      <p:sp>
        <p:nvSpPr>
          <p:cNvPr id="26" name="Striped Right Arrow 25"/>
          <p:cNvSpPr/>
          <p:nvPr/>
        </p:nvSpPr>
        <p:spPr>
          <a:xfrm>
            <a:off x="8503920" y="4197096"/>
            <a:ext cx="2743200" cy="411480"/>
          </a:xfrm>
          <a:prstGeom prst="striped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5074920"/>
            <a:ext cx="758952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5074920"/>
            <a:ext cx="128016" cy="1024128"/>
          </a:xfrm>
          <a:prstGeom prst="roundRect">
            <a:avLst>
              <a:gd name="adj" fmla="val 50000"/>
            </a:avLst>
          </a:prstGeom>
          <a:solidFill>
            <a:srgbClr val="0E7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7280" y="5330952"/>
            <a:ext cx="512064" cy="512064"/>
          </a:xfrm>
          <a:prstGeom prst="ellipse">
            <a:avLst/>
          </a:prstGeom>
          <a:solidFill>
            <a:srgbClr val="0E7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FFFFFF"/>
                </a:solidFill>
                <a:latin typeface="Segoe UI"/>
              </a:rPr>
              <a:t>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202936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Segoe UI"/>
              </a:rPr>
              <a:t>Data &amp; 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577840"/>
            <a:ext cx="6309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</a:rPr>
              <a:t>SQLAlchemy ORM  →  SQLite (dev)  •  MySQL  •  PostgreSQL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623560"/>
            <a:ext cx="10607040" cy="56692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69671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Cross-cutting:  bcrypt hashing  •  TOTP 2FA  •  account lockout  •  rate limits  •  audit logs  •  secure sessions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THE PICTURE BEHIND THE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Architecture &amp; Working-Flow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39 / 56</a:t>
            </a:r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63040"/>
            <a:ext cx="7040880" cy="422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715000"/>
            <a:ext cx="7040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Full-resolution: docs/assets/architecture.png - also embedded in the project PDF.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4023360" cy="4069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4023360" cy="4572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36192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WHAT THE DIAGRAM SHOWS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057400"/>
            <a:ext cx="3611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Layered build: HTML pages -&gt; JSON API -&gt; service engines -&gt; models -&gt; database.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Auth + role guards sit at every API boundary.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The 8-step workflow runs along the bottom of the diagram.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Receive -&gt; batch -&gt; FEFO pick -&gt; sell -&gt; adjust -&gt; alert -&gt; waste -&gt; report.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Every arrow maps to a module and a demo screen.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Open docs/assets/architecture.png for the crisp full-resolution version.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71500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Live screens: slides 45-46 walk the working UI end to end.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ONE CLICK, EARTH TO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Request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40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737360"/>
            <a:ext cx="148132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737360"/>
            <a:ext cx="1481328" cy="91440"/>
          </a:xfrm>
          <a:prstGeom prst="roundRect">
            <a:avLst>
              <a:gd name="adj" fmla="val 6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1.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87168"/>
            <a:ext cx="12984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Segoe UI"/>
              </a:rPr>
              <a:t>Jinja page renders the shell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286000" y="2377440"/>
            <a:ext cx="237744" cy="54864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51176" y="1737360"/>
            <a:ext cx="148132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51176" y="1737360"/>
            <a:ext cx="1481328" cy="91440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42616" y="1938528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2. API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2616" y="2487168"/>
            <a:ext cx="12984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Segoe UI"/>
              </a:rPr>
              <a:t>Page JS calls the JSON API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59936" y="2377440"/>
            <a:ext cx="237744" cy="54864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25112" y="1737360"/>
            <a:ext cx="148132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5112" y="1737360"/>
            <a:ext cx="1481328" cy="91440"/>
          </a:xfrm>
          <a:prstGeom prst="roundRect">
            <a:avLst>
              <a:gd name="adj" fmla="val 6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1938528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3. 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487168"/>
            <a:ext cx="12984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Segoe UI"/>
              </a:rPr>
              <a:t>Login check + role check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833872" y="2377440"/>
            <a:ext cx="237744" cy="54864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99048" y="1737360"/>
            <a:ext cx="148132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99048" y="1737360"/>
            <a:ext cx="1481328" cy="91440"/>
          </a:xfrm>
          <a:prstGeom prst="roundRect">
            <a:avLst>
              <a:gd name="adj" fmla="val 60000"/>
            </a:avLst>
          </a:prstGeom>
          <a:solidFill>
            <a:srgbClr val="EA7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1938528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4.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2487168"/>
            <a:ext cx="12984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Segoe UI"/>
              </a:rPr>
              <a:t>Service layer does the math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607808" y="2377440"/>
            <a:ext cx="237744" cy="54864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72984" y="1737360"/>
            <a:ext cx="148132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72984" y="1737360"/>
            <a:ext cx="1481328" cy="91440"/>
          </a:xfrm>
          <a:prstGeom prst="roundRect">
            <a:avLst>
              <a:gd name="adj" fmla="val 6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64424" y="1938528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5. Database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4424" y="2487168"/>
            <a:ext cx="12984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Segoe UI"/>
              </a:rPr>
              <a:t>ORM + one atomic commit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381744" y="2377440"/>
            <a:ext cx="237744" cy="54864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46920" y="1737360"/>
            <a:ext cx="148132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46920" y="1737360"/>
            <a:ext cx="1481328" cy="91440"/>
          </a:xfrm>
          <a:prstGeom prst="roundRect">
            <a:avLst>
              <a:gd name="adj" fmla="val 6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1938528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Segoe UI"/>
              </a:rPr>
              <a:t>6. Response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2487168"/>
            <a:ext cx="12984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Segoe UI"/>
              </a:rPr>
              <a:t>JSON returns, UI updates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3886200"/>
            <a:ext cx="10607040" cy="2057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4041648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WHAT MAKES IT RELIABLE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407408"/>
            <a:ext cx="100584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•  Business logic lives in services (engines), never inside routes - testable and repeatable.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•  A mutation commits once; every commit also writes an audit log row.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>
                <a:solidFill>
                  <a:srgbClr val="1E293B"/>
                </a:solidFill>
                <a:latin typeface="Segoe UI"/>
              </a:rPr>
              <a:t>•  Auth: Flask-Login session; role: @at_least(Role.X); API: clean 401 JSON; pages: redirect to login?next=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12648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4F46E5"/>
                </a:solidFill>
                <a:latin typeface="Segoe UI"/>
              </a:rPr>
              <a:t>Fast, auditable and uniform - every read or write takes the same path.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NORMALIZED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Data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41 / 56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554480"/>
          <a:ext cx="10607040" cy="39776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3840480"/>
                <a:gridCol w="4023360"/>
              </a:tblGrid>
              <a:tr h="568234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Domain</a:t>
                      </a:r>
                    </a:p>
                  </a:txBody>
                  <a:tcPr marL="1524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Tables</a:t>
                      </a:r>
                    </a:p>
                  </a:txBody>
                  <a:tcPr marL="152400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Responsibility</a:t>
                      </a:r>
                    </a:p>
                  </a:txBody>
                  <a:tcPr marL="152400" anchor="ctr">
                    <a:solidFill>
                      <a:srgbClr val="0F172A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Accounts &amp; Security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users, roles, login_logs, settings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Logins, RBAC, audit trail, system config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Catalogue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categories, products, suppliers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SKUs, packaging, sourcing master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Stock &amp; Movement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locations, inventory_ledger, inventory_batches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On-hand quantity, movement history, lot control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Freshness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expiry_alerts, waste_records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Expiry watch, disposal tracking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Pricing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promotions, promo_items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Discounts + approval workflow</a:t>
                      </a:r>
                    </a:p>
                  </a:txBody>
                  <a:tcPr marL="152400" anchor="ctr"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Commerce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sales, sale_items, payments, expenses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Checkout, totals, payments, running costs</a:t>
                      </a:r>
                    </a:p>
                  </a:txBody>
                  <a:tcPr marL="1524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5715000"/>
            <a:ext cx="1060704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78815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SQLite for zero-setup development; switch to MySQL / PostgreSQL via DATABASE_URL.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NORMALIZED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Database Tables (Deep Dive)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42 / 56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508760"/>
          <a:ext cx="10607039" cy="4892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6858000"/>
              </a:tblGrid>
              <a:tr h="40767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Tables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What they hold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users / login_logs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credentials, roles, 2FA secret, login audit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categories / brands / products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catalogue, SKU, price, reorder level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suppliers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sourcing master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stock_batches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batch code, quantity, cost, expiry, supplier link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locations / location_transfers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shop-floor placement + movements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inventory_movements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IN / OUT / ADJUST / TRANSFER / WASTAGE ledger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purchase_orders (+items)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what was ordered, cost, expected/actual dates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customers / sales / sale_items / payments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commerce with batch-accurate lines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promotions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discount type, value, status lifecycle, approver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notifications / audit_logs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alerts to users + immutable action history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4076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wastage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reason, quantity, loss value, recovery estimate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7240" y="61722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4F46E5"/>
                </a:solidFill>
                <a:latin typeface="Segoe UI"/>
              </a:rPr>
              <a:t>Every unit of stock is traceable to a batch, a supplier, a cost and an expiry.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43 / 56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554480"/>
          <a:ext cx="1060704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4206240"/>
                <a:gridCol w="4297680"/>
              </a:tblGrid>
              <a:tr h="574765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Technology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Why it was chosen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Backend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Python 3 + Flask + SQLAlchemy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Lightweight, modular blueprints, REST JSON API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Frontend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HTML5 / CSS / JavaScript + Chart.js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Server-rendered pages, live dashboard charts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Database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SQLite → MySQL → PostgreSQL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SQLite for zero-setup dev; production switch via DATABASE_URL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Security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Flask-Login, bcrypt, itsdangerous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Sessions, TOTP 2FA, signed reset tokens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Logic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Custom engines (FEFO, risk, pricing)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Pure-Python, unit-tested decision logic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F172A"/>
                          </a:solidFill>
                          <a:latin typeface="Segoe UI"/>
                        </a:rPr>
                        <a:t>Quality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Standalone test suites + smoke tests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E293B"/>
                          </a:solidFill>
                          <a:latin typeface="Segoe UI"/>
                        </a:rPr>
                        <a:t>35 security scenarios + functional smoke coverage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5806440"/>
            <a:ext cx="10607040" cy="56692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879592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Fully self-hosted — no external SaaS required; pandas powers sales analytics.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84 ENDPOINTS, 12 BLUEPRINTS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API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44 / 56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554480"/>
          <a:ext cx="10607040" cy="4937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5486400"/>
                <a:gridCol w="2286000"/>
              </a:tblGrid>
              <a:tr h="37982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Base path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Endpoints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Segoe UI"/>
                        </a:rPr>
                        <a:t>Family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/api/auth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login, register, me, 2FA, passwords, users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Identity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/api/products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catalogue, categories, brands, batches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Master data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/api/suppliers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supplier CRUD + supplier batches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Master data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/api/inventory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stock view, adjust, movements, locations, transfers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Stock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/api/batches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batch list + FEFO order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Engine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/api/sales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sales, customers, purchase orders + receive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Commerce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/api/ai/risk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batch risk scores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Engine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/api/ai/pricing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discount recommendations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Engine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/api/promotions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promotion lifecycle + approval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Pricing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/api/analytics|dashboard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KPIs, velocity, demand, forecast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Analytics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/api/alerts + /api/expiry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scans, generate, notifications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Ops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3798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/api/wastage + /api/reports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E293B"/>
                          </a:solidFill>
                          <a:latin typeface="Segoe UI"/>
                        </a:rPr>
                        <a:t>waste, report aggregation, health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Ops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6035040"/>
            <a:ext cx="10607040" cy="457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6108192"/>
            <a:ext cx="9966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Segoe UI"/>
              </a:rPr>
              <a:t>All JSON under /api; page routes under /; /api/health powers uptime monitors.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SINGLE STORE TO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Performance &amp;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45 / 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Segoe UI"/>
              </a:rPr>
              <a:t>Built for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1E293B"/>
                </a:solidFill>
                <a:latin typeface="Segoe UI"/>
              </a:rPr>
              <a:t>•  Atomic stock updates keep correctness under load.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1E293B"/>
                </a:solidFill>
                <a:latin typeface="Segoe UI"/>
              </a:rPr>
              <a:t>•  Batch/FEFO queries use indexed columns (product_id, expiry_date).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1E293B"/>
                </a:solidFill>
                <a:latin typeface="Segoe UI"/>
              </a:rPr>
              <a:t>•  Movement ledger designed to grow without losing history.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1E293B"/>
                </a:solidFill>
                <a:latin typeface="Segoe UI"/>
              </a:rPr>
              <a:t>•  Logic engines are pure Python - trivially cacheable.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4630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Segoe UI"/>
              </a:rPr>
              <a:t>Growth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6596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1E293B"/>
                </a:solidFill>
                <a:latin typeface="Segoe UI"/>
              </a:rPr>
              <a:t>•  SQLite (dev) -&gt; MySQL / PostgreSQL (prod) via DATABASE_URL.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1E293B"/>
                </a:solidFill>
                <a:latin typeface="Segoe UI"/>
              </a:rPr>
              <a:t>•  Gunicorn workers behind an nginx TLS proxy.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1E293B"/>
                </a:solidFill>
                <a:latin typeface="Segoe UI"/>
              </a:rPr>
              <a:t>•  Row locks (SELECT ... FOR UPDATE) already in the FEFO path.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1E293B"/>
                </a:solidFill>
                <a:latin typeface="Segoe UI"/>
              </a:rPr>
              <a:t>•  Swap engines / buses without touching routes.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029200"/>
            <a:ext cx="10607040" cy="96012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19379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Multi-store scale: run one instance per store sharing a managed database - the schema and API are already DB-agnostic.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DOCKER + TLS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Deployment - One Command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46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342900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60020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Segoe UI"/>
              </a:rPr>
              <a:t>MySQL 8.4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7744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Persistent product database, healthchecked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0288" y="1600200"/>
            <a:ext cx="342900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90288" y="160020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187451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Segoe UI"/>
              </a:rPr>
              <a:t>Flask + gunicorn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237744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App server on :8000, entrypoint waits for 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03336" y="1600200"/>
            <a:ext cx="342900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03336" y="1600200"/>
            <a:ext cx="3429000" cy="109728"/>
          </a:xfrm>
          <a:prstGeom prst="roundRect">
            <a:avLst>
              <a:gd name="adj" fmla="val 6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77656" y="1874519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Segoe UI"/>
              </a:rPr>
              <a:t>nginx TLS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7656" y="237744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:80 -&gt; :443 redirect, HTTPS, gzip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657600"/>
            <a:ext cx="10607040" cy="214884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8404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EA5E9"/>
                </a:solidFill>
                <a:latin typeface="Segoe UI"/>
              </a:rPr>
              <a:t>docker compose up  -  what happens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279392"/>
            <a:ext cx="100584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>
                <a:solidFill>
                  <a:srgbClr val="CBD5E1"/>
                </a:solidFill>
                <a:latin typeface="Segoe UI"/>
              </a:rPr>
              <a:t>•  MySQL starts and passes its healthcheck.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>
                <a:solidFill>
                  <a:srgbClr val="CBD5E1"/>
                </a:solidFill>
                <a:latin typeface="Segoe UI"/>
              </a:rPr>
              <a:t>•  App container waits for the DB, runs init-db, optionally seeds demo data.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>
                <a:solidFill>
                  <a:srgbClr val="CBD5E1"/>
                </a:solidFill>
                <a:latin typeface="Segoe UI"/>
              </a:rPr>
              <a:t>•  Gunicorn binds :8000; nginx terminates TLS, serves the app, redirects :80.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>
                <a:solidFill>
                  <a:srgbClr val="CBD5E1"/>
                </a:solidFill>
                <a:latin typeface="Segoe UI"/>
              </a:rPr>
              <a:t>•  Self-signed cert generated at startup for demos - mount a real certificate for production.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4F46E5"/>
                </a:solidFill>
                <a:latin typeface="Segoe UI"/>
              </a:rPr>
              <a:t>Every piece is in the repo: Dockerfile, docker-compose.yml, docker/entrypoint.sh, nginx config.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Live Demo &amp; Quick 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47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5669280" cy="4343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BD5E1"/>
                </a:solidFill>
                <a:latin typeface="Segoe UI"/>
              </a:rPr>
              <a:t>Terminal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8BB8FF"/>
                </a:solidFill>
                <a:latin typeface="Consolas"/>
              </a:rPr>
              <a:t>$ cd SmartShelf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8BB8FF"/>
                </a:solidFill>
                <a:latin typeface="Consolas"/>
              </a:rPr>
              <a:t>$ .venv\Scripts\python.exe -m flask --app app init-db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8BB8FF"/>
                </a:solidFill>
                <a:latin typeface="Consolas"/>
              </a:rPr>
              <a:t>$ .venv\Scripts\python.exe -m flask --app app seed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8BB8FF"/>
                </a:solidFill>
                <a:latin typeface="Consolas"/>
              </a:rPr>
              <a:t>$ .venv\Scripts\python.exe -m flask --app app run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8BB8FF"/>
                </a:solidFill>
                <a:latin typeface="Consolas"/>
              </a:rPr>
              <a:t/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BB8FF"/>
                </a:solidFill>
                <a:latin typeface="Consolas"/>
              </a:rPr>
              <a:t>  * Running on http://127.0.0.1:5000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BB8FF"/>
                </a:solidFill>
                <a:latin typeface="Consolas"/>
              </a:rPr>
              <a:t>  * Open /login in your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55448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Try these 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057400"/>
            <a:ext cx="466344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49440" y="2240280"/>
            <a:ext cx="530352" cy="530352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Segoe UI"/>
              </a:rPr>
              <a:t>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16712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Enable 2FA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496312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Settings → Security → scan the QR with any authenticator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3081528"/>
            <a:ext cx="466344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49440" y="3264408"/>
            <a:ext cx="530352" cy="530352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Segoe UI"/>
              </a:rP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191256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Run a sale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52044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Watch checkout auto-pick the earliest-expiring batch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105656"/>
            <a:ext cx="466344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49440" y="4288536"/>
            <a:ext cx="530352" cy="530352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Segoe UI"/>
              </a:rPr>
              <a:t>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21538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Check pricing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544568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Risk-driven discount suggestions with clear reasons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5129784"/>
            <a:ext cx="466344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49440" y="5312664"/>
            <a:ext cx="530352" cy="530352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5239512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Segoe UI"/>
              </a:rPr>
              <a:t>Open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5568696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Velocity, KPIs and the expiry health 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1264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Everything above is free of external SaaS — fully self-hosted.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READY TO LOG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Demo Accounts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48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34290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645920"/>
            <a:ext cx="3429000" cy="12801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1965960"/>
            <a:ext cx="1371600" cy="457200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9748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username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onsolas"/>
              </a:rP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5760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password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77639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onsolas"/>
              </a:rPr>
              <a:t>admin123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1772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Everything: users, pricing, system config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90288" y="1645920"/>
            <a:ext cx="34290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0288" y="1645920"/>
            <a:ext cx="3429000" cy="128016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10328" y="1965960"/>
            <a:ext cx="1371600" cy="457200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269748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username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301752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onsolas"/>
              </a:rPr>
              <a:t>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365760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password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8" y="3977639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onsolas"/>
              </a:rPr>
              <a:t>manager123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461772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Operations: products, batches, promos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03336" y="1645920"/>
            <a:ext cx="34290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03336" y="1645920"/>
            <a:ext cx="3429000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23376" y="1965960"/>
            <a:ext cx="1371600" cy="45720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Cashier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3376" y="269748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username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3376" y="301752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onsolas"/>
              </a:rPr>
              <a:t>cashier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3376" y="365760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password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23376" y="3977639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onsolas"/>
              </a:rPr>
              <a:t>cashier123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3376" y="461772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Front desk: checkout &amp; sales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Segoe UI"/>
              </a:rPr>
              <a:t>Tip: log in with the Admin account and enable 2FA in Settings to watch the full security flow.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SHIPPED, NOT PROTOTYPED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Quality &amp; Reliability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49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25146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83080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4F46E5"/>
                </a:solidFill>
                <a:latin typeface="Segoe U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51760"/>
            <a:ext cx="1965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automated security test scenarios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5888" y="1554480"/>
            <a:ext cx="25146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0208" y="1783080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0EA5E9"/>
                </a:solidFill>
                <a:latin typeface="Segoe UI"/>
              </a:rPr>
              <a:t>102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2651760"/>
            <a:ext cx="1965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registered API + page routes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4536" y="1554480"/>
            <a:ext cx="25146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8856" y="1783080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6A34A"/>
                </a:solidFill>
                <a:latin typeface="Segoe UI"/>
              </a:rPr>
              <a:t>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856" y="2651760"/>
            <a:ext cx="1965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database tables in a normalized schema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73184" y="1554480"/>
            <a:ext cx="25146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47504" y="1783080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7C3AED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7504" y="2651760"/>
            <a:ext cx="1965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database backends supported (SQLite/MySQL/PostgreSQL)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062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What that means you can trust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0916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1E293B"/>
                </a:solidFill>
                <a:latin typeface="Segoe UI"/>
              </a:rPr>
              <a:t>•  FEFO engine + risk scoring unit tests (ordering, cross-batch allocation, thresholds).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1E293B"/>
                </a:solidFill>
                <a:latin typeface="Segoe UI"/>
              </a:rPr>
              <a:t>•  End-to-end smoke test: login → receive → sale (FEFO allocation) → reports → pages.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1E293B"/>
                </a:solidFill>
                <a:latin typeface="Segoe UI"/>
              </a:rPr>
              <a:t>•  Security suite: lockout, rate limiting, password policy, 2FA enable/verify/disable, reset tokens, audit logs.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1E293B"/>
                </a:solidFill>
                <a:latin typeface="Segoe UI"/>
              </a:rPr>
              <a:t>•  Schema ships in SQL, seeded demo data included, plus a /api/health endpoint for uptime checks.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HOW IT'S 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Test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50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54480"/>
            <a:ext cx="3429000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554480"/>
            <a:ext cx="3429000" cy="128016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288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Segoe UI"/>
              </a:rPr>
              <a:t>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331720"/>
            <a:ext cx="1645920" cy="384048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30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26080"/>
            <a:ext cx="28803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Lockout after 5 failed logins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IP rate limiting (10 per 5 min)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Password policy &amp; common passwords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2FA enable / verify / disable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Signed reset tokens + single use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Audit logging for every login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0288" y="1554480"/>
            <a:ext cx="3429000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0288" y="1554480"/>
            <a:ext cx="3429000" cy="128016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8" y="18288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Segoe UI"/>
              </a:rPr>
              <a:t>Functional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4608" y="2331720"/>
            <a:ext cx="1645920" cy="384048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End-to-end smoke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2926080"/>
            <a:ext cx="28803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Login and session creation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Inventory receipt → batch created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Sale with automatic FEFO allocation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Pricing / risk endpoints live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All 17 pages render (200 OK)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Reports workbook generation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03336" y="1554480"/>
            <a:ext cx="3429000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03336" y="1554480"/>
            <a:ext cx="3429000" cy="128016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77656" y="18288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Segoe UI"/>
              </a:rPr>
              <a:t>Unit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77656" y="2331720"/>
            <a:ext cx="1645920" cy="384048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Engines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7656" y="2926080"/>
            <a:ext cx="28803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FEFO ordering by expiry date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Cross-batch allocation correctness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Insufficient stock raises cleanly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Risk high when expired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Risk low when fresh &amp; selling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1E293B"/>
                </a:solidFill>
                <a:latin typeface="Segoe UI"/>
              </a:rPr>
              <a:t>•  Threshold boundaries verified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97880"/>
            <a:ext cx="10607040" cy="47548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971032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onsolas"/>
              </a:rPr>
              <a:t>Run anytime:  python tests\test_security.py   python tests\smoke_test.py   python tests\test_engines.py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CI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51 / 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Segoe UI"/>
              </a:rPr>
              <a:t>On every push &amp; 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1E293B"/>
                </a:solidFill>
                <a:latin typeface="Segoe UI"/>
              </a:rPr>
              <a:t>•  Matrix: Python 3.11 and 3.12.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1E293B"/>
                </a:solidFill>
                <a:latin typeface="Segoe UI"/>
              </a:rPr>
              <a:t>•  Runs all four test suites independently.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1E293B"/>
                </a:solidFill>
                <a:latin typeface="Segoe UI"/>
              </a:rPr>
              <a:t>•  Coverage measured with --fail-under=50 gate.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>
                <a:solidFill>
                  <a:srgbClr val="1E293B"/>
                </a:solidFill>
                <a:latin typeface="Segoe UI"/>
              </a:rPr>
              <a:t>•  Fails loudly, never silently skips.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12064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lint / check  -  formatting and import sanity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test engines  -  FEFO order, risk, pricing units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test security  -  33 auth &amp; anti-abuse scenarios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test smoke  -  full HTTP journey on Flask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test concurrency  -  20-parallel no-oversell proof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coverage report  -  quality floor enforced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989320"/>
            <a:ext cx="10607040" cy="45720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6053328"/>
            <a:ext cx="9966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Merging only happens when every matrix job is green.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33 VERIFIED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Security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52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10607040" cy="685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27632"/>
            <a:ext cx="9966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The claim "secure by default" is automated, not decorative.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23160"/>
            <a:ext cx="34290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651760"/>
            <a:ext cx="1463040" cy="384048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Lockout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0040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Segoe UI"/>
              </a:rPr>
              <a:t>•  5 failed passwords lock 15 min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Segoe UI"/>
              </a:rPr>
              <a:t>•  reset clears the counter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0288" y="2423160"/>
            <a:ext cx="34290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64608" y="2651760"/>
            <a:ext cx="1463040" cy="384048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Rate limiting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320040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Segoe UI"/>
              </a:rPr>
              <a:t>•  10 login attempts / 5 min / IP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Segoe UI"/>
              </a:rPr>
              <a:t>•  429 when exceeded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03336" y="2423160"/>
            <a:ext cx="34290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77656" y="2651760"/>
            <a:ext cx="1463040" cy="384048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Passwords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7656" y="320040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Segoe UI"/>
              </a:rPr>
              <a:t>•  policy 8+ &amp; complexity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Segoe UI"/>
              </a:rPr>
              <a:t>•  common passwords blocked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14800"/>
            <a:ext cx="34290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4343400"/>
            <a:ext cx="1463040" cy="384048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89204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Segoe UI"/>
              </a:rPr>
              <a:t>•  enable with secret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Segoe UI"/>
              </a:rPr>
              <a:t>•  verify code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Segoe UI"/>
              </a:rPr>
              <a:t>•  disable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90288" y="4114800"/>
            <a:ext cx="34290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64608" y="4343400"/>
            <a:ext cx="1463040" cy="384048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489204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Segoe UI"/>
              </a:rPr>
              <a:t>•  signed reset tokens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Segoe UI"/>
              </a:rPr>
              <a:t>•  30-min expiry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Segoe UI"/>
              </a:rPr>
              <a:t>•  single use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03336" y="4114800"/>
            <a:ext cx="342900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77656" y="4343400"/>
            <a:ext cx="1463040" cy="384048"/>
          </a:xfrm>
          <a:prstGeom prst="roundRect">
            <a:avLst>
              <a:gd name="adj" fmla="val 4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Sessions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77656" y="489204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Segoe UI"/>
              </a:rPr>
              <a:t>•  strong protection (IP+UA)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Segoe UI"/>
              </a:rPr>
              <a:t>•  logout invalidates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1E293B"/>
                </a:solidFill>
                <a:latin typeface="Segoe UI"/>
              </a:rPr>
              <a:t>•  httpOnly cookies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Segoe UI"/>
              </a:rPr>
              <a:t>The security suite runs first in CI - a regression in any control blocks the merge.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WHAT ARE WE PROTECTING AGAINST?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Threat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53 / 56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508760"/>
          <a:ext cx="1060704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3017520"/>
                <a:gridCol w="4663440"/>
              </a:tblGrid>
              <a:tr h="335280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Attack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Impact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Segoe UI"/>
                        </a:rPr>
                        <a:t>Countermeasure</a:t>
                      </a:r>
                    </a:p>
                  </a:txBody>
                  <a:tcPr anchor="ctr" marL="101600">
                    <a:solidFill>
                      <a:srgbClr val="0F172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Attack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Impact if ignored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SmartShelf countermeasure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Credential stuffing / brute force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Account takeover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bcrypt + lockout + IP rate limit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Session hijacking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Impersonation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strong protection, IP+UA binding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Stolen password (phishing)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Data access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2FA TOTP mandatory path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Unprivileged discount approval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Revenue leak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RBAC: only Admin approves promos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Concurrent oversell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Negative stock / bad invoices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atomic guarded UPDATE + row locks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Data tampering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Unreliable records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immutable audit log on every mutation</a:t>
                      </a:r>
                    </a:p>
                  </a:txBody>
                  <a:tcPr anchor="ctr" marL="1016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Forged resets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E293B"/>
                          </a:solidFill>
                          <a:latin typeface="Segoe UI"/>
                        </a:rPr>
                        <a:t>Password takeover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Segoe UI"/>
                        </a:rPr>
                        <a:t>signed, single-use 30-min tokens</a:t>
                      </a:r>
                    </a:p>
                  </a:txBody>
                  <a:tcPr anchor="ctr" marL="1016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4251960"/>
            <a:ext cx="1060704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407408"/>
            <a:ext cx="9966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ASSUMPTIONS &amp;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773168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250">
                <a:solidFill>
                  <a:srgbClr val="1E293B"/>
                </a:solidFill>
                <a:latin typeface="Segoe UI"/>
              </a:rPr>
              <a:t>•  Threats in scope: web sessions, auth, authorization, data integrity at the API layer.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250">
                <a:solidFill>
                  <a:srgbClr val="1E293B"/>
                </a:solidFill>
                <a:latin typeface="Segoe UI"/>
              </a:rPr>
              <a:t>•  Out of scope today: physical device compromise, supply-chain attacks on third-party libs (mitigated by pinned deps).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4F46E5"/>
                </a:solidFill>
                <a:latin typeface="Segoe UI"/>
              </a:rPr>
              <a:t>Every control above has at least one automated test behind it.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ENGINEERING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Design Decisions &amp; Growth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54 / 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Segoe UI"/>
              </a:rPr>
              <a:t>Deliberate choices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011680"/>
            <a:ext cx="5029200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94560"/>
            <a:ext cx="46177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300" b="1">
                <a:solidFill>
                  <a:srgbClr val="1E293B"/>
                </a:solidFill>
                <a:latin typeface="Segoe UI"/>
              </a:rPr>
              <a:t>FEFO + atomic guard  -  the invariant everything leans on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Rule-based engines  -  transparent beats black-box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Approval chain  -  discounting is a business decision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Batch-accurate sale lines  -  reconcile to physical stock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Inactive-by-default accounts  -  admin verifies every new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4630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Segoe UI"/>
              </a:rPr>
              <a:t>Growth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011680"/>
            <a:ext cx="5120640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76272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BUILT-IN EXTENSIONS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60320"/>
            <a:ext cx="4709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Engines are transparent rules  -  ML forecasts add on the same way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Notifications poll  -  push/websocket plugs in without a rewrite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Single-node dev  -  managed MySQL/PostgreSQL + workers scale out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300">
                <a:solidFill>
                  <a:srgbClr val="1E293B"/>
                </a:solidFill>
                <a:latin typeface="Segoe UI"/>
              </a:rPr>
              <a:t>Keyboard entry today  -  barcode scanning is a drop-in next step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06440"/>
            <a:ext cx="10607040" cy="77724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943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CBD5E1"/>
                </a:solidFill>
                <a:latin typeface="Segoe UI"/>
              </a:rPr>
              <a:t>Smaller scope, done correctly, beats wider scope done sloppily - which is exactly why the tests pass and the demo runs.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118872" cy="603504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Segoe UI"/>
              </a:rPr>
              <a:t>NEXT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836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Segoe UI"/>
              </a:rPr>
              <a:t>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25296"/>
            <a:ext cx="2011680" cy="41148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55 / 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2103120" cy="37490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17320" y="201168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Segoe UI"/>
              </a:rPr>
              <a:t>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Segoe UI"/>
              </a:rPr>
              <a:t>POS &amp; Barcode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1828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Barcode/SKU scanners, receipt printing &amp; offline-friendly checkout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645920"/>
            <a:ext cx="2103120" cy="37490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201168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Segoe UI"/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06324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Segoe UI"/>
              </a:rPr>
              <a:t>Demand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794760"/>
            <a:ext cx="1828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ML-driven reorder points &amp; replenishment suggestions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1645920"/>
            <a:ext cx="2103120" cy="37490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97880" y="201168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Segoe UI"/>
              </a:rPr>
              <a:t>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06324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Segoe UI"/>
              </a:rPr>
              <a:t>Multi-Warehouse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3794760"/>
            <a:ext cx="1828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Distributed locations, cross-warehouse FEFO transfers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0" y="1645920"/>
            <a:ext cx="2103120" cy="37490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38160" y="201168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Segoe UI"/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06324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Segoe UI"/>
              </a:rPr>
              <a:t>Mobile &amp;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794760"/>
            <a:ext cx="1828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Manager dashboards and auto-generated report exports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1645920"/>
            <a:ext cx="2103120" cy="37490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78440" y="2011680"/>
            <a:ext cx="822960" cy="8229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>
                <a:solidFill>
                  <a:srgbClr val="FFFFFF"/>
                </a:solidFill>
                <a:latin typeface="Segoe UI"/>
              </a:rPr>
              <a:t>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06324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Segoe UI"/>
              </a:rPr>
              <a:t>Production Hardening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794760"/>
            <a:ext cx="1828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Docker packaging, HTTPS reverse proxy, email delivery for resets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669280"/>
            <a:ext cx="10607040" cy="6400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760720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Phase 1 (done): complete inventory–sales platform with FEFO, risk, pricing &amp; security.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7315200" cy="5029200"/>
          </a:xfrm>
          <a:prstGeom prst="ellipse">
            <a:avLst/>
          </a:prstGeom>
          <a:solidFill>
            <a:srgbClr val="101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480560"/>
            <a:ext cx="4023360" cy="40233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280160"/>
            <a:ext cx="2560320" cy="256032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Segoe UI"/>
              </a:rPr>
              <a:t>SmartShelf — Inventory Intelligence for Perishable Retail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EA5E9"/>
                </a:solidFill>
                <a:latin typeface="Segoe UI"/>
              </a:rPr>
              <a:t>FEFO  •  Risk Scoring  •  Dynamic Pricing  •  Analytics  •  Secure by Default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663440"/>
            <a:ext cx="3383280" cy="54864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Segoe UI"/>
              </a:rPr>
              <a:t>Questions? Let's walk through the live demo.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SmartShelf  •  Inventory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Segoe UI"/>
              </a:rPr>
              <a:t>56 / 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SmartShelf - Inventory Intelligence</dc:title>
  <dc:subject>Product &amp; Technical Overview</dc:subject>
  <dc:creator>SmartShelf Engineering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